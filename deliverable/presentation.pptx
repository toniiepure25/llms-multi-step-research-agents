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 everyone. I'm Adrian and this is ASAR. It's a multi-step research agent I built for the final project. Six minutes of talk, then a two-minute live demo. The thing I want you to remember is that every claim the agent produces has to be supported by retrieved evidence, and a different module than the one that produced it has to confirm that support.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things that fail in multi-step agents. None of them are about the model being weak. They're structural. Hallucinations compound. There's no audit trail for why evidence was discarded. Runs aren't replayable, so you can't rerun yesterday's bug. And if you ingest the open web you inherit prompt injection from whatever page you happened to land on. Every architectural choice in the next 30 seconds is a structural answer to one of these.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row solves a piece of the problem and none solves the whole thing. The gap I tried to close is the combination: typed contracts between every layer, hybrid retrieval, and the writer of a claim never being the one who checks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Eight layers, one router. The hard constraint is that layers don't import each other. Every data structure crossing a layer boundary is a Pydantic model. That's what gives us replayability, because you can serialize the whole state at any point and re-run.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 flagging this as the spine because the four rubric capabilities aren't bolted on; they form one pipeline. We ingest a real public dataset. We RAG over it with hybrid retrieval. We SFT a small open-weights model on Q-A pairs from the same corpus. Then DPO on top of that adapter using a preference dataset, also from the same corpus. The whole thing runs inside a safety wrapper that doesn't touch the orchestrator.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rubric line maps to a specific file path. The base model is an open-weights small language model, fine-tuned with both SFT and DPO on top of the same SciFact corpus we retrieve from.</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side: real numbers from real commands I just ran on this MacBook. Right side: one evidence item from the demo. Dense rank and lexical rank both present, which proves hybrid retrieval actually ran. Trust label flows from the loader through chunking, indexing, retrieval, all the way into the final output.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Switching to the terminal. Six commands, about 20 seconds each. The full script is in demo_runbook.md in the deliverable folder.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the left, what I'd push back on if a reviewer pretended this was a finished product. DPO instead of full PPO RLHF is the practical RLHF path for laptop training; full PPO needs a GPU cluster. SFT corpus is deliberately small because the point is to show the pipeline, not to ship a model. On the right, what's next in priority order.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Everything I showed is reproducible from the README in the deliverable folder. Happy to take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41A26"/>
        </a:solidFill>
        <a:effectLst/>
      </p:bgPr>
    </p:bg>
    <p:spTree>
      <p:nvGrpSpPr>
        <p:cNvPr id="1" name=""/>
        <p:cNvGrpSpPr/>
        <p:nvPr/>
      </p:nvGrpSpPr>
      <p:grpSpPr/>
      <p:sp>
        <p:nvSpPr>
          <p:cNvPr id="2" name="TextBox 1"/>
          <p:cNvSpPr txBox="1"/>
          <p:nvPr/>
        </p:nvSpPr>
        <p:spPr>
          <a:xfrm>
            <a:off x="822960" y="640080"/>
            <a:ext cx="9144000" cy="457200"/>
          </a:xfrm>
          <a:prstGeom prst="rect">
            <a:avLst/>
          </a:prstGeom>
          <a:noFill/>
        </p:spPr>
        <p:txBody>
          <a:bodyPr wrap="square" lIns="0" rIns="0" tIns="0">
            <a:spAutoFit/>
          </a:bodyPr>
          <a:lstStyle/>
          <a:p>
            <a:r>
              <a:rPr sz="1400" b="1" i="0">
                <a:solidFill>
                  <a:srgbClr val="C54A3D"/>
                </a:solidFill>
              </a:rPr>
              <a:t>LLM-Based Agents  ·  Final Project</a:t>
            </a:r>
          </a:p>
        </p:txBody>
      </p:sp>
      <p:sp>
        <p:nvSpPr>
          <p:cNvPr id="3" name="TextBox 2"/>
          <p:cNvSpPr txBox="1"/>
          <p:nvPr/>
        </p:nvSpPr>
        <p:spPr>
          <a:xfrm>
            <a:off x="822960" y="1828800"/>
            <a:ext cx="10058400" cy="1463040"/>
          </a:xfrm>
          <a:prstGeom prst="rect">
            <a:avLst/>
          </a:prstGeom>
          <a:noFill/>
        </p:spPr>
        <p:txBody>
          <a:bodyPr wrap="square" lIns="0" rIns="0" tIns="0">
            <a:spAutoFit/>
          </a:bodyPr>
          <a:lstStyle/>
          <a:p>
            <a:r>
              <a:rPr sz="11000" b="1" i="0">
                <a:solidFill>
                  <a:srgbClr val="ECEEF2"/>
                </a:solidFill>
              </a:rPr>
              <a:t>ASAR</a:t>
            </a:r>
          </a:p>
        </p:txBody>
      </p:sp>
      <p:sp>
        <p:nvSpPr>
          <p:cNvPr id="4" name="TextBox 3"/>
          <p:cNvSpPr txBox="1"/>
          <p:nvPr/>
        </p:nvSpPr>
        <p:spPr>
          <a:xfrm>
            <a:off x="822960" y="3383280"/>
            <a:ext cx="10058400" cy="640080"/>
          </a:xfrm>
          <a:prstGeom prst="rect">
            <a:avLst/>
          </a:prstGeom>
          <a:noFill/>
        </p:spPr>
        <p:txBody>
          <a:bodyPr wrap="square" lIns="0" rIns="0" tIns="0">
            <a:spAutoFit/>
          </a:bodyPr>
          <a:lstStyle/>
          <a:p>
            <a:r>
              <a:rPr sz="2800" b="0" i="0">
                <a:solidFill>
                  <a:srgbClr val="ECEEF2"/>
                </a:solidFill>
              </a:rPr>
              <a:t>Agentic Structured Autonomous Researcher</a:t>
            </a:r>
          </a:p>
        </p:txBody>
      </p:sp>
      <p:sp>
        <p:nvSpPr>
          <p:cNvPr id="5" name="TextBox 4"/>
          <p:cNvSpPr txBox="1"/>
          <p:nvPr/>
        </p:nvSpPr>
        <p:spPr>
          <a:xfrm>
            <a:off x="822960" y="4297680"/>
            <a:ext cx="10058400" cy="1097280"/>
          </a:xfrm>
          <a:prstGeom prst="rect">
            <a:avLst/>
          </a:prstGeom>
          <a:noFill/>
        </p:spPr>
        <p:txBody>
          <a:bodyPr wrap="square" lIns="0" rIns="0" tIns="0">
            <a:spAutoFit/>
          </a:bodyPr>
          <a:lstStyle/>
          <a:p>
            <a:r>
              <a:rPr sz="2000" b="0" i="0">
                <a:solidFill>
                  <a:srgbClr val="C8CCD4"/>
                </a:solidFill>
              </a:rPr>
              <a:t>A grounded multi-step research agent: RAG over a real corpus,
a small open model fine-tuned with SFT and DPO, safety-checked.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CFBF8"/>
        </a:solidFill>
        <a:effectLst/>
      </p:bgPr>
    </p:bg>
    <p:spTree>
      <p:nvGrpSpPr>
        <p:cNvPr id="1" name=""/>
        <p:cNvGrpSpPr/>
        <p:nvPr/>
      </p:nvGrpSpPr>
      <p:grpSpPr/>
      <p:sp>
        <p:nvSpPr>
          <p:cNvPr id="2" name="TextBox 1"/>
          <p:cNvSpPr txBox="1"/>
          <p:nvPr/>
        </p:nvSpPr>
        <p:spPr>
          <a:xfrm>
            <a:off x="548640" y="502920"/>
            <a:ext cx="10972800" cy="777240"/>
          </a:xfrm>
          <a:prstGeom prst="rect">
            <a:avLst/>
          </a:prstGeom>
          <a:noFill/>
        </p:spPr>
        <p:txBody>
          <a:bodyPr wrap="square" lIns="0" rIns="0" tIns="0">
            <a:spAutoFit/>
          </a:bodyPr>
          <a:lstStyle/>
          <a:p>
            <a:r>
              <a:rPr sz="3400" b="1" i="0">
                <a:solidFill>
                  <a:srgbClr val="1A1F2C"/>
                </a:solidFill>
              </a:rPr>
              <a:t>Why a multi-step research agent is hard</a:t>
            </a:r>
          </a:p>
        </p:txBody>
      </p:sp>
      <p:cxnSp>
        <p:nvCxnSpPr>
          <p:cNvPr id="3" name="Connector 2"/>
          <p:cNvCxnSpPr/>
          <p:nvPr/>
        </p:nvCxnSpPr>
        <p:spPr>
          <a:xfrm>
            <a:off x="548640" y="1298448"/>
            <a:ext cx="10881360" cy="0"/>
          </a:xfrm>
          <a:prstGeom prst="line">
            <a:avLst/>
          </a:prstGeom>
          <a:ln w="9525">
            <a:solidFill>
              <a:srgbClr val="D5D8E0"/>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40080" y="1737360"/>
            <a:ext cx="10972800" cy="4572000"/>
          </a:xfrm>
          <a:prstGeom prst="rect">
            <a:avLst/>
          </a:prstGeom>
          <a:noFill/>
        </p:spPr>
        <p:txBody>
          <a:bodyPr wrap="square" lIns="0">
            <a:spAutoFit/>
          </a:bodyPr>
          <a:lstStyle/>
          <a:p>
            <a:pPr>
              <a:lnSpc>
                <a:spcPct val="135000"/>
              </a:lnSpc>
              <a:spcAft>
                <a:spcPts val="600"/>
              </a:spcAft>
            </a:pPr>
            <a:r>
              <a:rPr sz="2200">
                <a:solidFill>
                  <a:srgbClr val="1A1F2C"/>
                </a:solidFill>
              </a:rPr>
              <a:t>Single-shot chatbots can hallucinate without much harm.</a:t>
            </a:r>
          </a:p>
          <a:p>
            <a:pPr>
              <a:lnSpc>
                <a:spcPct val="135000"/>
              </a:lnSpc>
              <a:spcAft>
                <a:spcPts val="600"/>
              </a:spcAft>
            </a:pPr>
            <a:r>
              <a:rPr sz="2200">
                <a:solidFill>
                  <a:srgbClr val="1A1F2C"/>
                </a:solidFill>
              </a:rPr>
              <a:t>A multi-step agent reuses today's bad claim as tomorrow's input.</a:t>
            </a:r>
          </a:p>
          <a:p>
            <a:pPr>
              <a:lnSpc>
                <a:spcPct val="135000"/>
              </a:lnSpc>
              <a:spcAft>
                <a:spcPts val="600"/>
              </a:spcAft>
            </a:pPr>
            <a:r>
              <a:rPr sz="2200">
                <a:solidFill>
                  <a:srgbClr val="1A1F2C"/>
                </a:solidFill>
              </a:rPr>
              <a:t>Most demos can't tell you which evidence was rejected, or why.</a:t>
            </a:r>
          </a:p>
          <a:p>
            <a:pPr>
              <a:lnSpc>
                <a:spcPct val="135000"/>
              </a:lnSpc>
              <a:spcAft>
                <a:spcPts val="600"/>
              </a:spcAft>
            </a:pPr>
            <a:r>
              <a:rPr sz="2200">
                <a:solidFill>
                  <a:srgbClr val="1A1F2C"/>
                </a:solidFill>
              </a:rPr>
              <a:t>Re-running the same prompt produces a different answer.</a:t>
            </a:r>
          </a:p>
          <a:p>
            <a:pPr>
              <a:lnSpc>
                <a:spcPct val="135000"/>
              </a:lnSpc>
              <a:spcAft>
                <a:spcPts val="600"/>
              </a:spcAft>
            </a:pPr>
            <a:r>
              <a:rPr sz="2200">
                <a:solidFill>
                  <a:srgbClr val="1A1F2C"/>
                </a:solidFill>
              </a:rPr>
              <a:t>If you pull from the open web, you also pull prompt injection.</a:t>
            </a:r>
          </a:p>
        </p:txBody>
      </p:sp>
      <p:sp>
        <p:nvSpPr>
          <p:cNvPr id="5" name="TextBox 4"/>
          <p:cNvSpPr txBox="1"/>
          <p:nvPr/>
        </p:nvSpPr>
        <p:spPr>
          <a:xfrm>
            <a:off x="11247120" y="6446520"/>
            <a:ext cx="640080" cy="274320"/>
          </a:xfrm>
          <a:prstGeom prst="rect">
            <a:avLst/>
          </a:prstGeom>
          <a:noFill/>
        </p:spPr>
        <p:txBody>
          <a:bodyPr wrap="square" lIns="0" rIns="0" tIns="0">
            <a:spAutoFit/>
          </a:bodyPr>
          <a:lstStyle/>
          <a:p>
            <a:pPr algn="r"/>
            <a:r>
              <a:rPr sz="1000" b="0" i="0">
                <a:solidFill>
                  <a:srgbClr val="A0A6B0"/>
                </a:solidFil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CFBF8"/>
        </a:solidFill>
        <a:effectLst/>
      </p:bgPr>
    </p:bg>
    <p:spTree>
      <p:nvGrpSpPr>
        <p:cNvPr id="1" name=""/>
        <p:cNvGrpSpPr/>
        <p:nvPr/>
      </p:nvGrpSpPr>
      <p:grpSpPr/>
      <p:sp>
        <p:nvSpPr>
          <p:cNvPr id="2" name="TextBox 1"/>
          <p:cNvSpPr txBox="1"/>
          <p:nvPr/>
        </p:nvSpPr>
        <p:spPr>
          <a:xfrm>
            <a:off x="548640" y="502920"/>
            <a:ext cx="10972800" cy="777240"/>
          </a:xfrm>
          <a:prstGeom prst="rect">
            <a:avLst/>
          </a:prstGeom>
          <a:noFill/>
        </p:spPr>
        <p:txBody>
          <a:bodyPr wrap="square" lIns="0" rIns="0" tIns="0">
            <a:spAutoFit/>
          </a:bodyPr>
          <a:lstStyle/>
          <a:p>
            <a:r>
              <a:rPr sz="3400" b="1" i="0">
                <a:solidFill>
                  <a:srgbClr val="1A1F2C"/>
                </a:solidFill>
              </a:rPr>
              <a:t>What people do today</a:t>
            </a:r>
          </a:p>
        </p:txBody>
      </p:sp>
      <p:cxnSp>
        <p:nvCxnSpPr>
          <p:cNvPr id="3" name="Connector 2"/>
          <p:cNvCxnSpPr/>
          <p:nvPr/>
        </p:nvCxnSpPr>
        <p:spPr>
          <a:xfrm>
            <a:off x="548640" y="1298448"/>
            <a:ext cx="10881360" cy="0"/>
          </a:xfrm>
          <a:prstGeom prst="line">
            <a:avLst/>
          </a:prstGeom>
          <a:ln w="9525">
            <a:solidFill>
              <a:srgbClr val="D5D8E0"/>
            </a:solidFill>
          </a:ln>
        </p:spPr>
        <p:style>
          <a:lnRef idx="2">
            <a:schemeClr val="accent1"/>
          </a:lnRef>
          <a:fillRef idx="0">
            <a:schemeClr val="accent1"/>
          </a:fillRef>
          <a:effectRef idx="1">
            <a:schemeClr val="accent1"/>
          </a:effectRef>
          <a:fontRef idx="minor">
            <a:schemeClr val="tx1"/>
          </a:fontRef>
        </p:style>
      </p:cxnSp>
      <p:graphicFrame>
        <p:nvGraphicFramePr>
          <p:cNvPr id="4" name="Table 3"/>
          <p:cNvGraphicFramePr>
            <a:graphicFrameLocks noGrp="1"/>
          </p:cNvGraphicFramePr>
          <p:nvPr/>
        </p:nvGraphicFramePr>
        <p:xfrm>
          <a:off x="548640" y="1737360"/>
          <a:ext cx="11155680" cy="3657600"/>
        </p:xfrm>
        <a:graphic>
          <a:graphicData uri="http://schemas.openxmlformats.org/drawingml/2006/table">
            <a:tbl>
              <a:tblPr firstRow="1" bandRow="1">
                <a:tableStyleId>{5C22544A-7EE6-4342-B048-85BDC9FD1C3A}</a:tableStyleId>
              </a:tblPr>
              <a:tblGrid>
                <a:gridCol w="3291840"/>
                <a:gridCol w="3657600"/>
                <a:gridCol w="4206240"/>
              </a:tblGrid>
              <a:tr h="609600">
                <a:tc>
                  <a:txBody>
                    <a:bodyPr wrap="square"/>
                    <a:lstStyle/>
                    <a:p>
                      <a:r>
                        <a:rPr b="1" sz="1600">
                          <a:solidFill>
                            <a:srgbClr val="1A1F2C"/>
                          </a:solidFill>
                        </a:rPr>
                        <a:t>System type</a:t>
                      </a:r>
                    </a:p>
                  </a:txBody>
                  <a:tcPr>
                    <a:solidFill>
                      <a:srgbClr val="E9EBF0"/>
                    </a:solidFill>
                  </a:tcPr>
                </a:tc>
                <a:tc>
                  <a:txBody>
                    <a:bodyPr wrap="square"/>
                    <a:lstStyle/>
                    <a:p>
                      <a:r>
                        <a:rPr b="1" sz="1600">
                          <a:solidFill>
                            <a:srgbClr val="1A1F2C"/>
                          </a:solidFill>
                        </a:rPr>
                        <a:t>Strength</a:t>
                      </a:r>
                    </a:p>
                  </a:txBody>
                  <a:tcPr>
                    <a:solidFill>
                      <a:srgbClr val="E9EBF0"/>
                    </a:solidFill>
                  </a:tcPr>
                </a:tc>
                <a:tc>
                  <a:txBody>
                    <a:bodyPr wrap="square"/>
                    <a:lstStyle/>
                    <a:p>
                      <a:r>
                        <a:rPr b="1" sz="1600">
                          <a:solidFill>
                            <a:srgbClr val="1A1F2C"/>
                          </a:solidFill>
                        </a:rPr>
                        <a:t>Where it leaves a gap</a:t>
                      </a:r>
                    </a:p>
                  </a:txBody>
                  <a:tcPr>
                    <a:solidFill>
                      <a:srgbClr val="E9EBF0"/>
                    </a:solidFill>
                  </a:tcPr>
                </a:tc>
              </a:tr>
              <a:tr h="609600">
                <a:tc>
                  <a:txBody>
                    <a:bodyPr wrap="square"/>
                    <a:lstStyle/>
                    <a:p>
                      <a:r>
                        <a:rPr sz="1600">
                          <a:solidFill>
                            <a:srgbClr val="1A1F2C"/>
                          </a:solidFill>
                        </a:rPr>
                        <a:t>Chat + browsing</a:t>
                      </a:r>
                    </a:p>
                  </a:txBody>
                  <a:tcPr>
                    <a:solidFill>
                      <a:srgbClr val="FCFBF8"/>
                    </a:solidFill>
                  </a:tcPr>
                </a:tc>
                <a:tc>
                  <a:txBody>
                    <a:bodyPr wrap="square"/>
                    <a:lstStyle/>
                    <a:p>
                      <a:r>
                        <a:rPr sz="1600">
                          <a:solidFill>
                            <a:srgbClr val="1A1F2C"/>
                          </a:solidFill>
                        </a:rPr>
                        <a:t>Broad knowledge</a:t>
                      </a:r>
                    </a:p>
                  </a:txBody>
                  <a:tcPr>
                    <a:solidFill>
                      <a:srgbClr val="FCFBF8"/>
                    </a:solidFill>
                  </a:tcPr>
                </a:tc>
                <a:tc>
                  <a:txBody>
                    <a:bodyPr wrap="square"/>
                    <a:lstStyle/>
                    <a:p>
                      <a:r>
                        <a:rPr sz="1600">
                          <a:solidFill>
                            <a:srgbClr val="1A1F2C"/>
                          </a:solidFill>
                        </a:rPr>
                        <a:t>No groundedness check</a:t>
                      </a:r>
                    </a:p>
                  </a:txBody>
                  <a:tcPr>
                    <a:solidFill>
                      <a:srgbClr val="FCFBF8"/>
                    </a:solidFill>
                  </a:tcPr>
                </a:tc>
              </a:tr>
              <a:tr h="609600">
                <a:tc>
                  <a:txBody>
                    <a:bodyPr wrap="square"/>
                    <a:lstStyle/>
                    <a:p>
                      <a:r>
                        <a:rPr sz="1600">
                          <a:solidFill>
                            <a:srgbClr val="1A1F2C"/>
                          </a:solidFill>
                        </a:rPr>
                        <a:t>ReAct / Reflexion</a:t>
                      </a:r>
                    </a:p>
                  </a:txBody>
                  <a:tcPr>
                    <a:solidFill>
                      <a:srgbClr val="FCFBF8"/>
                    </a:solidFill>
                  </a:tcPr>
                </a:tc>
                <a:tc>
                  <a:txBody>
                    <a:bodyPr wrap="square"/>
                    <a:lstStyle/>
                    <a:p>
                      <a:r>
                        <a:rPr sz="1600">
                          <a:solidFill>
                            <a:srgbClr val="1A1F2C"/>
                          </a:solidFill>
                        </a:rPr>
                        <a:t>Step-by-step reasoning</a:t>
                      </a:r>
                    </a:p>
                  </a:txBody>
                  <a:tcPr>
                    <a:solidFill>
                      <a:srgbClr val="FCFBF8"/>
                    </a:solidFill>
                  </a:tcPr>
                </a:tc>
                <a:tc>
                  <a:txBody>
                    <a:bodyPr wrap="square"/>
                    <a:lstStyle/>
                    <a:p>
                      <a:r>
                        <a:rPr sz="1600">
                          <a:solidFill>
                            <a:srgbClr val="1A1F2C"/>
                          </a:solidFill>
                        </a:rPr>
                        <a:t>Same model self-verifies</a:t>
                      </a:r>
                    </a:p>
                  </a:txBody>
                  <a:tcPr>
                    <a:solidFill>
                      <a:srgbClr val="FCFBF8"/>
                    </a:solidFill>
                  </a:tcPr>
                </a:tc>
              </a:tr>
              <a:tr h="609600">
                <a:tc>
                  <a:txBody>
                    <a:bodyPr wrap="square"/>
                    <a:lstStyle/>
                    <a:p>
                      <a:r>
                        <a:rPr sz="1600">
                          <a:solidFill>
                            <a:srgbClr val="1A1F2C"/>
                          </a:solidFill>
                        </a:rPr>
                        <a:t>LangChain, LlamaIndex</a:t>
                      </a:r>
                    </a:p>
                  </a:txBody>
                  <a:tcPr>
                    <a:solidFill>
                      <a:srgbClr val="FCFBF8"/>
                    </a:solidFill>
                  </a:tcPr>
                </a:tc>
                <a:tc>
                  <a:txBody>
                    <a:bodyPr wrap="square"/>
                    <a:lstStyle/>
                    <a:p>
                      <a:r>
                        <a:rPr sz="1600">
                          <a:solidFill>
                            <a:srgbClr val="1A1F2C"/>
                          </a:solidFill>
                        </a:rPr>
                        <a:t>Retrieval primitives</a:t>
                      </a:r>
                    </a:p>
                  </a:txBody>
                  <a:tcPr>
                    <a:solidFill>
                      <a:srgbClr val="FCFBF8"/>
                    </a:solidFill>
                  </a:tcPr>
                </a:tc>
                <a:tc>
                  <a:txBody>
                    <a:bodyPr wrap="square"/>
                    <a:lstStyle/>
                    <a:p>
                      <a:r>
                        <a:rPr sz="1600">
                          <a:solidFill>
                            <a:srgbClr val="1A1F2C"/>
                          </a:solidFill>
                        </a:rPr>
                        <a:t>Outputs are loose strings</a:t>
                      </a:r>
                    </a:p>
                  </a:txBody>
                  <a:tcPr>
                    <a:solidFill>
                      <a:srgbClr val="FCFBF8"/>
                    </a:solidFill>
                  </a:tcPr>
                </a:tc>
              </a:tr>
              <a:tr h="609600">
                <a:tc>
                  <a:txBody>
                    <a:bodyPr wrap="square"/>
                    <a:lstStyle/>
                    <a:p>
                      <a:r>
                        <a:rPr sz="1600">
                          <a:solidFill>
                            <a:srgbClr val="1A1F2C"/>
                          </a:solidFill>
                        </a:rPr>
                        <a:t>AutoGPT, GPT-Researcher</a:t>
                      </a:r>
                    </a:p>
                  </a:txBody>
                  <a:tcPr>
                    <a:solidFill>
                      <a:srgbClr val="FCFBF8"/>
                    </a:solidFill>
                  </a:tcPr>
                </a:tc>
                <a:tc>
                  <a:txBody>
                    <a:bodyPr wrap="square"/>
                    <a:lstStyle/>
                    <a:p>
                      <a:r>
                        <a:rPr sz="1600">
                          <a:solidFill>
                            <a:srgbClr val="1A1F2C"/>
                          </a:solidFill>
                        </a:rPr>
                        <a:t>Long-horizon demos</a:t>
                      </a:r>
                    </a:p>
                  </a:txBody>
                  <a:tcPr>
                    <a:solidFill>
                      <a:srgbClr val="FCFBF8"/>
                    </a:solidFill>
                  </a:tcPr>
                </a:tc>
                <a:tc>
                  <a:txBody>
                    <a:bodyPr wrap="square"/>
                    <a:lstStyle/>
                    <a:p>
                      <a:r>
                        <a:rPr sz="1600">
                          <a:solidFill>
                            <a:srgbClr val="1A1F2C"/>
                          </a:solidFill>
                        </a:rPr>
                        <a:t>Confabulation, no replay</a:t>
                      </a:r>
                    </a:p>
                  </a:txBody>
                  <a:tcPr>
                    <a:solidFill>
                      <a:srgbClr val="FCFBF8"/>
                    </a:solidFill>
                  </a:tcPr>
                </a:tc>
              </a:tr>
              <a:tr h="609600">
                <a:tc>
                  <a:txBody>
                    <a:bodyPr wrap="square"/>
                    <a:lstStyle/>
                    <a:p>
                      <a:r>
                        <a:rPr sz="1600">
                          <a:solidFill>
                            <a:srgbClr val="1A1F2C"/>
                          </a:solidFill>
                        </a:rPr>
                        <a:t>Llama Guard, CAI</a:t>
                      </a:r>
                    </a:p>
                  </a:txBody>
                  <a:tcPr>
                    <a:solidFill>
                      <a:srgbClr val="FCFBF8"/>
                    </a:solidFill>
                  </a:tcPr>
                </a:tc>
                <a:tc>
                  <a:txBody>
                    <a:bodyPr wrap="square"/>
                    <a:lstStyle/>
                    <a:p>
                      <a:r>
                        <a:rPr sz="1600">
                          <a:solidFill>
                            <a:srgbClr val="1A1F2C"/>
                          </a:solidFill>
                        </a:rPr>
                        <a:t>Toxicity filtering</a:t>
                      </a:r>
                    </a:p>
                  </a:txBody>
                  <a:tcPr>
                    <a:solidFill>
                      <a:srgbClr val="FCFBF8"/>
                    </a:solidFill>
                  </a:tcPr>
                </a:tc>
                <a:tc>
                  <a:txBody>
                    <a:bodyPr wrap="square"/>
                    <a:lstStyle/>
                    <a:p>
                      <a:r>
                        <a:rPr sz="1600">
                          <a:solidFill>
                            <a:srgbClr val="1A1F2C"/>
                          </a:solidFill>
                        </a:rPr>
                        <a:t>Doesn't address grounding</a:t>
                      </a:r>
                    </a:p>
                  </a:txBody>
                  <a:tcPr>
                    <a:solidFill>
                      <a:srgbClr val="FCFBF8"/>
                    </a:solidFill>
                  </a:tcPr>
                </a:tc>
              </a:tr>
            </a:tbl>
          </a:graphicData>
        </a:graphic>
      </p:graphicFrame>
      <p:sp>
        <p:nvSpPr>
          <p:cNvPr id="5" name="TextBox 4"/>
          <p:cNvSpPr txBox="1"/>
          <p:nvPr/>
        </p:nvSpPr>
        <p:spPr>
          <a:xfrm>
            <a:off x="548640" y="5760720"/>
            <a:ext cx="10972800" cy="548640"/>
          </a:xfrm>
          <a:prstGeom prst="rect">
            <a:avLst/>
          </a:prstGeom>
          <a:noFill/>
        </p:spPr>
        <p:txBody>
          <a:bodyPr wrap="square" lIns="0" rIns="0" tIns="0">
            <a:spAutoFit/>
          </a:bodyPr>
          <a:lstStyle/>
          <a:p>
            <a:r>
              <a:rPr sz="1800" b="0" i="1">
                <a:solidFill>
                  <a:srgbClr val="4A5263"/>
                </a:solidFill>
              </a:rPr>
              <a:t>No one combines typed contracts between layers, hybrid RAG, and third-party verification in one open system.</a:t>
            </a:r>
          </a:p>
        </p:txBody>
      </p:sp>
      <p:sp>
        <p:nvSpPr>
          <p:cNvPr id="6" name="TextBox 5"/>
          <p:cNvSpPr txBox="1"/>
          <p:nvPr/>
        </p:nvSpPr>
        <p:spPr>
          <a:xfrm>
            <a:off x="11247120" y="6446520"/>
            <a:ext cx="640080" cy="274320"/>
          </a:xfrm>
          <a:prstGeom prst="rect">
            <a:avLst/>
          </a:prstGeom>
          <a:noFill/>
        </p:spPr>
        <p:txBody>
          <a:bodyPr wrap="square" lIns="0" rIns="0" tIns="0">
            <a:spAutoFit/>
          </a:bodyPr>
          <a:lstStyle/>
          <a:p>
            <a:pPr algn="r"/>
            <a:r>
              <a:rPr sz="1000" b="0" i="0">
                <a:solidFill>
                  <a:srgbClr val="A0A6B0"/>
                </a:solidFil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CFBF8"/>
        </a:solidFill>
        <a:effectLst/>
      </p:bgPr>
    </p:bg>
    <p:spTree>
      <p:nvGrpSpPr>
        <p:cNvPr id="1" name=""/>
        <p:cNvGrpSpPr/>
        <p:nvPr/>
      </p:nvGrpSpPr>
      <p:grpSpPr/>
      <p:sp>
        <p:nvSpPr>
          <p:cNvPr id="2" name="TextBox 1"/>
          <p:cNvSpPr txBox="1"/>
          <p:nvPr/>
        </p:nvSpPr>
        <p:spPr>
          <a:xfrm>
            <a:off x="548640" y="502920"/>
            <a:ext cx="10972800" cy="777240"/>
          </a:xfrm>
          <a:prstGeom prst="rect">
            <a:avLst/>
          </a:prstGeom>
          <a:noFill/>
        </p:spPr>
        <p:txBody>
          <a:bodyPr wrap="square" lIns="0" rIns="0" tIns="0">
            <a:spAutoFit/>
          </a:bodyPr>
          <a:lstStyle/>
          <a:p>
            <a:r>
              <a:rPr sz="3400" b="1" i="0">
                <a:solidFill>
                  <a:srgbClr val="1A1F2C"/>
                </a:solidFill>
              </a:rPr>
              <a:t>The system</a:t>
            </a:r>
          </a:p>
        </p:txBody>
      </p:sp>
      <p:cxnSp>
        <p:nvCxnSpPr>
          <p:cNvPr id="3" name="Connector 2"/>
          <p:cNvCxnSpPr/>
          <p:nvPr/>
        </p:nvCxnSpPr>
        <p:spPr>
          <a:xfrm>
            <a:off x="548640" y="1298448"/>
            <a:ext cx="10881360" cy="0"/>
          </a:xfrm>
          <a:prstGeom prst="line">
            <a:avLst/>
          </a:prstGeom>
          <a:ln w="9525">
            <a:solidFill>
              <a:srgbClr val="D5D8E0"/>
            </a:solidFill>
          </a:ln>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548640" y="1737360"/>
            <a:ext cx="11155680" cy="3291840"/>
          </a:xfrm>
          <a:prstGeom prst="rect">
            <a:avLst/>
          </a:prstGeom>
          <a:solidFill>
            <a:srgbClr val="F5F3EE"/>
          </a:solidFill>
          <a:ln w="6350">
            <a:solidFill>
              <a:srgbClr val="D5D8E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37160"/>
          <a:lstStyle/>
          <a:p>
            <a:pPr algn="ctr">
              <a:lnSpc>
                <a:spcPct val="110000"/>
              </a:lnSpc>
            </a:pPr>
            <a:r>
              <a:rPr sz="1300">
                <a:solidFill>
                  <a:srgbClr val="242A36"/>
                </a:solidFill>
                <a:latin typeface="Menlo"/>
              </a:rPr>
              <a:t>                       ┌──────────────────────────┐</a:t>
            </a:r>
          </a:p>
          <a:p>
            <a:pPr>
              <a:lnSpc>
                <a:spcPct val="110000"/>
              </a:lnSpc>
            </a:pPr>
            <a:r>
              <a:rPr sz="1300">
                <a:solidFill>
                  <a:srgbClr val="242A36"/>
                </a:solidFill>
                <a:latin typeface="Menlo"/>
              </a:rPr>
              <a:t>                       │      orchestration       │   only layer that imports others</a:t>
            </a:r>
          </a:p>
          <a:p>
            <a:pPr>
              <a:lnSpc>
                <a:spcPct val="110000"/>
              </a:lnSpc>
            </a:pPr>
            <a:r>
              <a:rPr sz="1300">
                <a:solidFill>
                  <a:srgbClr val="242A36"/>
                </a:solidFill>
                <a:latin typeface="Menlo"/>
              </a:rPr>
              <a:t>                       └────────────┬─────────────┘</a:t>
            </a:r>
          </a:p>
          <a:p>
            <a:pPr>
              <a:lnSpc>
                <a:spcPct val="110000"/>
              </a:lnSpc>
            </a:pPr>
            <a:r>
              <a:rPr sz="1300">
                <a:solidFill>
                  <a:srgbClr val="242A36"/>
                </a:solidFill>
                <a:latin typeface="Menlo"/>
              </a:rPr>
              <a:t>                                    │</a:t>
            </a:r>
          </a:p>
          <a:p>
            <a:pPr>
              <a:lnSpc>
                <a:spcPct val="110000"/>
              </a:lnSpc>
            </a:pPr>
            <a:r>
              <a:rPr sz="1300">
                <a:solidFill>
                  <a:srgbClr val="242A36"/>
                </a:solidFill>
                <a:latin typeface="Menlo"/>
              </a:rPr>
              <a:t>   ┌──────────┬──────────┬──────────┼──────────┬──────────┬──────────┐</a:t>
            </a:r>
          </a:p>
          <a:p>
            <a:pPr>
              <a:lnSpc>
                <a:spcPct val="110000"/>
              </a:lnSpc>
            </a:pPr>
            <a:r>
              <a:rPr sz="1300">
                <a:solidFill>
                  <a:srgbClr val="242A36"/>
                </a:solidFill>
                <a:latin typeface="Menlo"/>
              </a:rPr>
              <a:t>   ▼          ▼          ▼          ▼          ▼          ▼</a:t>
            </a:r>
          </a:p>
          <a:p>
            <a:pPr>
              <a:lnSpc>
                <a:spcPct val="110000"/>
              </a:lnSpc>
            </a:pPr>
            <a:r>
              <a:rPr sz="1300">
                <a:solidFill>
                  <a:srgbClr val="242A36"/>
                </a:solidFill>
                <a:latin typeface="Menlo"/>
              </a:rPr>
              <a:t> planning  execution    memory  deliberation verification  evaluation</a:t>
            </a:r>
          </a:p>
          <a:p>
            <a:pPr>
              <a:lnSpc>
                <a:spcPct val="110000"/>
              </a:lnSpc>
            </a:pPr>
            <a:r>
              <a:rPr sz="1300">
                <a:solidFill>
                  <a:srgbClr val="242A36"/>
                </a:solidFill>
                <a:latin typeface="Menlo"/>
              </a:rPr>
              <a:t>   │          │          │          │          │          │</a:t>
            </a:r>
          </a:p>
          <a:p>
            <a:pPr>
              <a:lnSpc>
                <a:spcPct val="110000"/>
              </a:lnSpc>
            </a:pPr>
            <a:r>
              <a:rPr sz="1300">
                <a:solidFill>
                  <a:srgbClr val="242A36"/>
                </a:solidFill>
                <a:latin typeface="Menlo"/>
              </a:rPr>
              <a:t>   ▼          ▼          ▼          ▼          ▼          ▼</a:t>
            </a:r>
          </a:p>
          <a:p>
            <a:pPr>
              <a:lnSpc>
                <a:spcPct val="110000"/>
              </a:lnSpc>
            </a:pPr>
            <a:r>
              <a:rPr sz="1300">
                <a:solidFill>
                  <a:srgbClr val="242A36"/>
                </a:solidFill>
                <a:latin typeface="Menlo"/>
              </a:rPr>
              <a:t>  Research   Evidence   working   Decision   Verification  Experiment</a:t>
            </a:r>
          </a:p>
          <a:p>
            <a:pPr>
              <a:lnSpc>
                <a:spcPct val="110000"/>
              </a:lnSpc>
            </a:pPr>
            <a:r>
              <a:rPr sz="1300">
                <a:solidFill>
                  <a:srgbClr val="242A36"/>
                </a:solidFill>
                <a:latin typeface="Menlo"/>
              </a:rPr>
              <a:t>   Plan       Item      buffer    Packet      Result        Record</a:t>
            </a:r>
          </a:p>
        </p:txBody>
      </p:sp>
      <p:sp>
        <p:nvSpPr>
          <p:cNvPr id="5" name="TextBox 4"/>
          <p:cNvSpPr txBox="1"/>
          <p:nvPr/>
        </p:nvSpPr>
        <p:spPr>
          <a:xfrm>
            <a:off x="640080" y="5212080"/>
            <a:ext cx="10972800" cy="1280160"/>
          </a:xfrm>
          <a:prstGeom prst="rect">
            <a:avLst/>
          </a:prstGeom>
          <a:noFill/>
        </p:spPr>
        <p:txBody>
          <a:bodyPr wrap="square" lIns="0">
            <a:spAutoFit/>
          </a:bodyPr>
          <a:lstStyle/>
          <a:p>
            <a:pPr>
              <a:lnSpc>
                <a:spcPct val="135000"/>
              </a:lnSpc>
              <a:spcAft>
                <a:spcPts val="600"/>
              </a:spcAft>
            </a:pPr>
            <a:r>
              <a:rPr sz="1800">
                <a:solidFill>
                  <a:srgbClr val="1A1F2C"/>
                </a:solidFill>
              </a:rPr>
              <a:t>Each layer is a Protocol. Implementations are swappable.</a:t>
            </a:r>
          </a:p>
          <a:p>
            <a:pPr>
              <a:lnSpc>
                <a:spcPct val="135000"/>
              </a:lnSpc>
              <a:spcAft>
                <a:spcPts val="600"/>
              </a:spcAft>
            </a:pPr>
            <a:r>
              <a:rPr sz="1800">
                <a:solidFill>
                  <a:srgbClr val="1A1F2C"/>
                </a:solidFill>
              </a:rPr>
              <a:t>No layer imports another. The orchestrator is the only router.</a:t>
            </a:r>
          </a:p>
          <a:p>
            <a:pPr>
              <a:lnSpc>
                <a:spcPct val="135000"/>
              </a:lnSpc>
              <a:spcAft>
                <a:spcPts val="600"/>
              </a:spcAft>
            </a:pPr>
            <a:r>
              <a:rPr sz="1800">
                <a:solidFill>
                  <a:srgbClr val="1A1F2C"/>
                </a:solidFill>
              </a:rPr>
              <a:t>Every arrow you see is a Pydantic schema, not a string.</a:t>
            </a:r>
          </a:p>
        </p:txBody>
      </p:sp>
      <p:sp>
        <p:nvSpPr>
          <p:cNvPr id="6" name="TextBox 5"/>
          <p:cNvSpPr txBox="1"/>
          <p:nvPr/>
        </p:nvSpPr>
        <p:spPr>
          <a:xfrm>
            <a:off x="11247120" y="6446520"/>
            <a:ext cx="640080" cy="274320"/>
          </a:xfrm>
          <a:prstGeom prst="rect">
            <a:avLst/>
          </a:prstGeom>
          <a:noFill/>
        </p:spPr>
        <p:txBody>
          <a:bodyPr wrap="square" lIns="0" rIns="0" tIns="0">
            <a:spAutoFit/>
          </a:bodyPr>
          <a:lstStyle/>
          <a:p>
            <a:pPr algn="r"/>
            <a:r>
              <a:rPr sz="1000" b="0" i="0">
                <a:solidFill>
                  <a:srgbClr val="A0A6B0"/>
                </a:solidFil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CFBF8"/>
        </a:solidFill>
        <a:effectLst/>
      </p:bgPr>
    </p:bg>
    <p:spTree>
      <p:nvGrpSpPr>
        <p:cNvPr id="1" name=""/>
        <p:cNvGrpSpPr/>
        <p:nvPr/>
      </p:nvGrpSpPr>
      <p:grpSpPr/>
      <p:sp>
        <p:nvSpPr>
          <p:cNvPr id="2" name="TextBox 1"/>
          <p:cNvSpPr txBox="1"/>
          <p:nvPr/>
        </p:nvSpPr>
        <p:spPr>
          <a:xfrm>
            <a:off x="548640" y="502920"/>
            <a:ext cx="10972800" cy="777240"/>
          </a:xfrm>
          <a:prstGeom prst="rect">
            <a:avLst/>
          </a:prstGeom>
          <a:noFill/>
        </p:spPr>
        <p:txBody>
          <a:bodyPr wrap="square" lIns="0" rIns="0" tIns="0">
            <a:spAutoFit/>
          </a:bodyPr>
          <a:lstStyle/>
          <a:p>
            <a:r>
              <a:rPr sz="3400" b="1" i="0">
                <a:solidFill>
                  <a:srgbClr val="1A1F2C"/>
                </a:solidFill>
              </a:rPr>
              <a:t>Data → RAG → SFT → DPO → Safety</a:t>
            </a:r>
          </a:p>
        </p:txBody>
      </p:sp>
      <p:cxnSp>
        <p:nvCxnSpPr>
          <p:cNvPr id="3" name="Connector 2"/>
          <p:cNvCxnSpPr/>
          <p:nvPr/>
        </p:nvCxnSpPr>
        <p:spPr>
          <a:xfrm>
            <a:off x="548640" y="1298448"/>
            <a:ext cx="10881360" cy="0"/>
          </a:xfrm>
          <a:prstGeom prst="line">
            <a:avLst/>
          </a:prstGeom>
          <a:ln w="9525">
            <a:solidFill>
              <a:srgbClr val="D5D8E0"/>
            </a:solidFill>
          </a:ln>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457200" y="1737360"/>
            <a:ext cx="11247120" cy="4297680"/>
          </a:xfrm>
          <a:prstGeom prst="rect">
            <a:avLst/>
          </a:prstGeom>
          <a:solidFill>
            <a:srgbClr val="F5F3EE"/>
          </a:solidFill>
          <a:ln w="6350">
            <a:solidFill>
              <a:srgbClr val="D5D8E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37160"/>
          <a:lstStyle/>
          <a:p>
            <a:pPr algn="ctr">
              <a:lnSpc>
                <a:spcPct val="110000"/>
              </a:lnSpc>
            </a:pPr>
            <a:r>
              <a:rPr sz="1200">
                <a:solidFill>
                  <a:srgbClr val="242A36"/>
                </a:solidFill>
                <a:latin typeface="Menlo"/>
              </a:rPr>
              <a:t>  ┌─ 1. DATA INGESTION ─────────────────────────────────────────────┐</a:t>
            </a:r>
          </a:p>
          <a:p>
            <a:pPr>
              <a:lnSpc>
                <a:spcPct val="110000"/>
              </a:lnSpc>
            </a:pPr>
            <a:r>
              <a:rPr sz="1200">
                <a:solidFill>
                  <a:srgbClr val="242A36"/>
                </a:solidFill>
                <a:latin typeface="Menlo"/>
              </a:rPr>
              <a:t>  │  BeIR/SciFact  →  normalize  →  5,183 docs                       │</a:t>
            </a:r>
          </a:p>
          <a:p>
            <a:pPr>
              <a:lnSpc>
                <a:spcPct val="110000"/>
              </a:lnSpc>
            </a:pPr>
            <a:r>
              <a:rPr sz="1200">
                <a:solidFill>
                  <a:srgbClr val="242A36"/>
                </a:solidFill>
                <a:latin typeface="Menlo"/>
              </a:rPr>
              <a:t>  └─────────────────────────┬────────────────────────────────────────┘</a:t>
            </a:r>
          </a:p>
          <a:p>
            <a:pPr>
              <a:lnSpc>
                <a:spcPct val="110000"/>
              </a:lnSpc>
            </a:pPr>
            <a:r>
              <a:rPr sz="1200">
                <a:solidFill>
                  <a:srgbClr val="242A36"/>
                </a:solidFill>
                <a:latin typeface="Menlo"/>
              </a:rPr>
              <a:t>                            ▼</a:t>
            </a:r>
          </a:p>
          <a:p>
            <a:pPr>
              <a:lnSpc>
                <a:spcPct val="110000"/>
              </a:lnSpc>
            </a:pPr>
            <a:r>
              <a:rPr sz="1200">
                <a:solidFill>
                  <a:srgbClr val="242A36"/>
                </a:solidFill>
                <a:latin typeface="Menlo"/>
              </a:rPr>
              <a:t>  ┌─ 2. RAG ────────────────────────────────────────────────────────┐</a:t>
            </a:r>
          </a:p>
          <a:p>
            <a:pPr>
              <a:lnSpc>
                <a:spcPct val="110000"/>
              </a:lnSpc>
            </a:pPr>
            <a:r>
              <a:rPr sz="1200">
                <a:solidFill>
                  <a:srgbClr val="242A36"/>
                </a:solidFill>
                <a:latin typeface="Menlo"/>
              </a:rPr>
              <a:t>  │  chunker  →  embedder (FastEmbed | hashing)  →  Qdrant + BM25    │</a:t>
            </a:r>
          </a:p>
          <a:p>
            <a:pPr>
              <a:lnSpc>
                <a:spcPct val="110000"/>
              </a:lnSpc>
            </a:pPr>
            <a:r>
              <a:rPr sz="1200">
                <a:solidFill>
                  <a:srgbClr val="242A36"/>
                </a:solidFill>
                <a:latin typeface="Menlo"/>
              </a:rPr>
              <a:t>  │           →  reciprocal-rank fusion                               │</a:t>
            </a:r>
          </a:p>
          <a:p>
            <a:pPr>
              <a:lnSpc>
                <a:spcPct val="110000"/>
              </a:lnSpc>
            </a:pPr>
            <a:r>
              <a:rPr sz="1200">
                <a:solidFill>
                  <a:srgbClr val="242A36"/>
                </a:solidFill>
                <a:latin typeface="Menlo"/>
              </a:rPr>
              <a:t>  └─────────────────────────┬────────────────────────────────────────┘</a:t>
            </a:r>
          </a:p>
          <a:p>
            <a:pPr>
              <a:lnSpc>
                <a:spcPct val="110000"/>
              </a:lnSpc>
            </a:pPr>
            <a:r>
              <a:rPr sz="1200">
                <a:solidFill>
                  <a:srgbClr val="242A36"/>
                </a:solidFill>
                <a:latin typeface="Menlo"/>
              </a:rPr>
              <a:t>                            ▼</a:t>
            </a:r>
          </a:p>
          <a:p>
            <a:pPr>
              <a:lnSpc>
                <a:spcPct val="110000"/>
              </a:lnSpc>
            </a:pPr>
            <a:r>
              <a:rPr sz="1200">
                <a:solidFill>
                  <a:srgbClr val="242A36"/>
                </a:solidFill>
                <a:latin typeface="Menlo"/>
              </a:rPr>
              <a:t>  ┌─ 3a. SFT (LoRA) ───────────────┐  ┌─ 3b. DPO  ─────────────────┐</a:t>
            </a:r>
          </a:p>
          <a:p>
            <a:pPr>
              <a:lnSpc>
                <a:spcPct val="110000"/>
              </a:lnSpc>
            </a:pPr>
            <a:r>
              <a:rPr sz="1200">
                <a:solidFill>
                  <a:srgbClr val="242A36"/>
                </a:solidFill>
                <a:latin typeface="Menlo"/>
              </a:rPr>
              <a:t>  │  Qwen2.5-0.5B + Q-A pairs       │  │  (prompt, chosen, rejected) │</a:t>
            </a:r>
          </a:p>
          <a:p>
            <a:pPr>
              <a:lnSpc>
                <a:spcPct val="110000"/>
              </a:lnSpc>
            </a:pPr>
            <a:r>
              <a:rPr sz="1200">
                <a:solidFill>
                  <a:srgbClr val="242A36"/>
                </a:solidFill>
                <a:latin typeface="Menlo"/>
              </a:rPr>
              <a:t>  │  ~1,500 SciFact-derived pairs   │→ │  1,000 preference pairs     │</a:t>
            </a:r>
          </a:p>
          <a:p>
            <a:pPr>
              <a:lnSpc>
                <a:spcPct val="110000"/>
              </a:lnSpc>
            </a:pPr>
            <a:r>
              <a:rPr sz="1200">
                <a:solidFill>
                  <a:srgbClr val="242A36"/>
                </a:solidFill>
                <a:latin typeface="Menlo"/>
              </a:rPr>
              <a:t>  └─────────────────────────────────┘  └─────────────────────────────┘</a:t>
            </a:r>
          </a:p>
          <a:p>
            <a:pPr>
              <a:lnSpc>
                <a:spcPct val="110000"/>
              </a:lnSpc>
            </a:pPr>
            <a:r>
              <a:rPr sz="1200">
                <a:solidFill>
                  <a:srgbClr val="242A36"/>
                </a:solidFill>
                <a:latin typeface="Menlo"/>
              </a:rPr>
              <a:t>                            ▼</a:t>
            </a:r>
          </a:p>
          <a:p>
            <a:pPr>
              <a:lnSpc>
                <a:spcPct val="110000"/>
              </a:lnSpc>
            </a:pPr>
            <a:r>
              <a:rPr sz="1200">
                <a:solidFill>
                  <a:srgbClr val="242A36"/>
                </a:solidFill>
                <a:latin typeface="Menlo"/>
              </a:rPr>
              <a:t>  ┌─ 4. SAFETY ─────────────────────────────────────────────────────┐</a:t>
            </a:r>
          </a:p>
          <a:p>
            <a:pPr>
              <a:lnSpc>
                <a:spcPct val="110000"/>
              </a:lnSpc>
            </a:pPr>
            <a:r>
              <a:rPr sz="1200">
                <a:solidFill>
                  <a:srgbClr val="242A36"/>
                </a:solidFill>
                <a:latin typeface="Menlo"/>
              </a:rPr>
              <a:t>  │  pre-flight on the goal  +  post-flight on evidence and claims  │</a:t>
            </a:r>
          </a:p>
          <a:p>
            <a:pPr>
              <a:lnSpc>
                <a:spcPct val="110000"/>
              </a:lnSpc>
            </a:pPr>
            <a:r>
              <a:rPr sz="1200">
                <a:solidFill>
                  <a:srgbClr val="242A36"/>
                </a:solidFill>
                <a:latin typeface="Menlo"/>
              </a:rPr>
              <a:t>  │  Keyword filter always on; Detoxify available as a backend      │</a:t>
            </a:r>
          </a:p>
          <a:p>
            <a:pPr>
              <a:lnSpc>
                <a:spcPct val="110000"/>
              </a:lnSpc>
            </a:pPr>
            <a:r>
              <a:rPr sz="1200">
                <a:solidFill>
                  <a:srgbClr val="242A36"/>
                </a:solidFill>
                <a:latin typeface="Menlo"/>
              </a:rPr>
              <a:t>  └──────────────────────────────────────────────────────────────────┘</a:t>
            </a:r>
          </a:p>
        </p:txBody>
      </p:sp>
      <p:sp>
        <p:nvSpPr>
          <p:cNvPr id="5" name="TextBox 4"/>
          <p:cNvSpPr txBox="1"/>
          <p:nvPr/>
        </p:nvSpPr>
        <p:spPr>
          <a:xfrm>
            <a:off x="11247120" y="6446520"/>
            <a:ext cx="640080" cy="274320"/>
          </a:xfrm>
          <a:prstGeom prst="rect">
            <a:avLst/>
          </a:prstGeom>
          <a:noFill/>
        </p:spPr>
        <p:txBody>
          <a:bodyPr wrap="square" lIns="0" rIns="0" tIns="0">
            <a:spAutoFit/>
          </a:bodyPr>
          <a:lstStyle/>
          <a:p>
            <a:pPr algn="r"/>
            <a:r>
              <a:rPr sz="1000" b="0" i="0">
                <a:solidFill>
                  <a:srgbClr val="A0A6B0"/>
                </a:solidFil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CFBF8"/>
        </a:solidFill>
        <a:effectLst/>
      </p:bgPr>
    </p:bg>
    <p:spTree>
      <p:nvGrpSpPr>
        <p:cNvPr id="1" name=""/>
        <p:cNvGrpSpPr/>
        <p:nvPr/>
      </p:nvGrpSpPr>
      <p:grpSpPr/>
      <p:sp>
        <p:nvSpPr>
          <p:cNvPr id="2" name="TextBox 1"/>
          <p:cNvSpPr txBox="1"/>
          <p:nvPr/>
        </p:nvSpPr>
        <p:spPr>
          <a:xfrm>
            <a:off x="548640" y="502920"/>
            <a:ext cx="10972800" cy="777240"/>
          </a:xfrm>
          <a:prstGeom prst="rect">
            <a:avLst/>
          </a:prstGeom>
          <a:noFill/>
        </p:spPr>
        <p:txBody>
          <a:bodyPr wrap="square" lIns="0" rIns="0" tIns="0">
            <a:spAutoFit/>
          </a:bodyPr>
          <a:lstStyle/>
          <a:p>
            <a:r>
              <a:rPr sz="3400" b="1" i="0">
                <a:solidFill>
                  <a:srgbClr val="1A1F2C"/>
                </a:solidFill>
              </a:rPr>
              <a:t>Where each piece lives in the code</a:t>
            </a:r>
          </a:p>
        </p:txBody>
      </p:sp>
      <p:cxnSp>
        <p:nvCxnSpPr>
          <p:cNvPr id="3" name="Connector 2"/>
          <p:cNvCxnSpPr/>
          <p:nvPr/>
        </p:nvCxnSpPr>
        <p:spPr>
          <a:xfrm>
            <a:off x="548640" y="1298448"/>
            <a:ext cx="10881360" cy="0"/>
          </a:xfrm>
          <a:prstGeom prst="line">
            <a:avLst/>
          </a:prstGeom>
          <a:ln w="9525">
            <a:solidFill>
              <a:srgbClr val="D5D8E0"/>
            </a:solidFill>
          </a:ln>
        </p:spPr>
        <p:style>
          <a:lnRef idx="2">
            <a:schemeClr val="accent1"/>
          </a:lnRef>
          <a:fillRef idx="0">
            <a:schemeClr val="accent1"/>
          </a:fillRef>
          <a:effectRef idx="1">
            <a:schemeClr val="accent1"/>
          </a:effectRef>
          <a:fontRef idx="minor">
            <a:schemeClr val="tx1"/>
          </a:fontRef>
        </p:style>
      </p:cxnSp>
      <p:graphicFrame>
        <p:nvGraphicFramePr>
          <p:cNvPr id="4" name="Table 3"/>
          <p:cNvGraphicFramePr>
            <a:graphicFrameLocks noGrp="1"/>
          </p:cNvGraphicFramePr>
          <p:nvPr/>
        </p:nvGraphicFramePr>
        <p:xfrm>
          <a:off x="548640" y="1737360"/>
          <a:ext cx="11155680" cy="4114800"/>
        </p:xfrm>
        <a:graphic>
          <a:graphicData uri="http://schemas.openxmlformats.org/drawingml/2006/table">
            <a:tbl>
              <a:tblPr firstRow="1" bandRow="1">
                <a:tableStyleId>{5C22544A-7EE6-4342-B048-85BDC9FD1C3A}</a:tableStyleId>
              </a:tblPr>
              <a:tblGrid>
                <a:gridCol w="3291840"/>
                <a:gridCol w="7863840"/>
              </a:tblGrid>
              <a:tr h="587828">
                <a:tc>
                  <a:txBody>
                    <a:bodyPr wrap="square"/>
                    <a:lstStyle/>
                    <a:p>
                      <a:r>
                        <a:rPr b="1" sz="1600">
                          <a:solidFill>
                            <a:srgbClr val="1A1F2C"/>
                          </a:solidFill>
                        </a:rPr>
                        <a:t>Capability</a:t>
                      </a:r>
                    </a:p>
                  </a:txBody>
                  <a:tcPr>
                    <a:solidFill>
                      <a:srgbClr val="E9EBF0"/>
                    </a:solidFill>
                  </a:tcPr>
                </a:tc>
                <a:tc>
                  <a:txBody>
                    <a:bodyPr wrap="square"/>
                    <a:lstStyle/>
                    <a:p>
                      <a:r>
                        <a:rPr b="1" sz="1600">
                          <a:solidFill>
                            <a:srgbClr val="1A1F2C"/>
                          </a:solidFill>
                        </a:rPr>
                        <a:t>Module</a:t>
                      </a:r>
                    </a:p>
                  </a:txBody>
                  <a:tcPr>
                    <a:solidFill>
                      <a:srgbClr val="E9EBF0"/>
                    </a:solidFill>
                  </a:tcPr>
                </a:tc>
              </a:tr>
              <a:tr h="587828">
                <a:tc>
                  <a:txBody>
                    <a:bodyPr wrap="square"/>
                    <a:lstStyle/>
                    <a:p>
                      <a:r>
                        <a:rPr sz="1600">
                          <a:solidFill>
                            <a:srgbClr val="1A1F2C"/>
                          </a:solidFill>
                        </a:rPr>
                        <a:t>Data ingestion</a:t>
                      </a:r>
                    </a:p>
                  </a:txBody>
                  <a:tcPr>
                    <a:solidFill>
                      <a:srgbClr val="FCFBF8"/>
                    </a:solidFill>
                  </a:tcPr>
                </a:tc>
                <a:tc>
                  <a:txBody>
                    <a:bodyPr wrap="square"/>
                    <a:lstStyle/>
                    <a:p>
                      <a:r>
                        <a:rPr sz="1600">
                          <a:solidFill>
                            <a:srgbClr val="1A1F2C"/>
                          </a:solidFill>
                        </a:rPr>
                        <a:t>asar/execution/rag/scifact_loader.py</a:t>
                      </a:r>
                    </a:p>
                  </a:txBody>
                  <a:tcPr>
                    <a:solidFill>
                      <a:srgbClr val="FCFBF8"/>
                    </a:solidFill>
                  </a:tcPr>
                </a:tc>
              </a:tr>
              <a:tr h="587828">
                <a:tc>
                  <a:txBody>
                    <a:bodyPr wrap="square"/>
                    <a:lstStyle/>
                    <a:p>
                      <a:r>
                        <a:rPr sz="1600">
                          <a:solidFill>
                            <a:srgbClr val="1A1F2C"/>
                          </a:solidFill>
                        </a:rPr>
                        <a:t>RAG</a:t>
                      </a:r>
                    </a:p>
                  </a:txBody>
                  <a:tcPr>
                    <a:solidFill>
                      <a:srgbClr val="FCFBF8"/>
                    </a:solidFill>
                  </a:tcPr>
                </a:tc>
                <a:tc>
                  <a:txBody>
                    <a:bodyPr wrap="square"/>
                    <a:lstStyle/>
                    <a:p>
                      <a:r>
                        <a:rPr sz="1600">
                          <a:solidFill>
                            <a:srgbClr val="1A1F2C"/>
                          </a:solidFill>
                        </a:rPr>
                        <a:t>asar/execution/rag/{chunker, embedder, retriever}.py</a:t>
                      </a:r>
                    </a:p>
                  </a:txBody>
                  <a:tcPr>
                    <a:solidFill>
                      <a:srgbClr val="FCFBF8"/>
                    </a:solidFill>
                  </a:tcPr>
                </a:tc>
              </a:tr>
              <a:tr h="587828">
                <a:tc>
                  <a:txBody>
                    <a:bodyPr wrap="square"/>
                    <a:lstStyle/>
                    <a:p>
                      <a:r>
                        <a:rPr sz="1600">
                          <a:solidFill>
                            <a:srgbClr val="1A1F2C"/>
                          </a:solidFill>
                        </a:rPr>
                        <a:t>SFT (Q-A fine-tuning)</a:t>
                      </a:r>
                    </a:p>
                  </a:txBody>
                  <a:tcPr>
                    <a:solidFill>
                      <a:srgbClr val="FCFBF8"/>
                    </a:solidFill>
                  </a:tcPr>
                </a:tc>
                <a:tc>
                  <a:txBody>
                    <a:bodyPr wrap="square"/>
                    <a:lstStyle/>
                    <a:p>
                      <a:r>
                        <a:rPr sz="1600">
                          <a:solidFill>
                            <a:srgbClr val="1A1F2C"/>
                          </a:solidFill>
                        </a:rPr>
                        <a:t>asar/finetune/dataset.py  +  scripts/finetune_lora.py</a:t>
                      </a:r>
                    </a:p>
                  </a:txBody>
                  <a:tcPr>
                    <a:solidFill>
                      <a:srgbClr val="FCFBF8"/>
                    </a:solidFill>
                  </a:tcPr>
                </a:tc>
              </a:tr>
              <a:tr h="587828">
                <a:tc>
                  <a:txBody>
                    <a:bodyPr wrap="square"/>
                    <a:lstStyle/>
                    <a:p>
                      <a:r>
                        <a:rPr sz="1600">
                          <a:solidFill>
                            <a:srgbClr val="1A1F2C"/>
                          </a:solidFill>
                        </a:rPr>
                        <a:t>RLHF via DPO</a:t>
                      </a:r>
                    </a:p>
                  </a:txBody>
                  <a:tcPr>
                    <a:solidFill>
                      <a:srgbClr val="FCFBF8"/>
                    </a:solidFill>
                  </a:tcPr>
                </a:tc>
                <a:tc>
                  <a:txBody>
                    <a:bodyPr wrap="square"/>
                    <a:lstStyle/>
                    <a:p>
                      <a:r>
                        <a:rPr sz="1600">
                          <a:solidFill>
                            <a:srgbClr val="1A1F2C"/>
                          </a:solidFill>
                        </a:rPr>
                        <a:t>asar/finetune/preference_dataset.py  +  scripts/dpo_train.py</a:t>
                      </a:r>
                    </a:p>
                  </a:txBody>
                  <a:tcPr>
                    <a:solidFill>
                      <a:srgbClr val="FCFBF8"/>
                    </a:solidFill>
                  </a:tcPr>
                </a:tc>
              </a:tr>
              <a:tr h="587828">
                <a:tc>
                  <a:txBody>
                    <a:bodyPr wrap="square"/>
                    <a:lstStyle/>
                    <a:p>
                      <a:r>
                        <a:rPr sz="1600">
                          <a:solidFill>
                            <a:srgbClr val="1A1F2C"/>
                          </a:solidFill>
                        </a:rPr>
                        <a:t>Evaluation</a:t>
                      </a:r>
                    </a:p>
                  </a:txBody>
                  <a:tcPr>
                    <a:solidFill>
                      <a:srgbClr val="FCFBF8"/>
                    </a:solidFill>
                  </a:tcPr>
                </a:tc>
                <a:tc>
                  <a:txBody>
                    <a:bodyPr wrap="square"/>
                    <a:lstStyle/>
                    <a:p>
                      <a:r>
                        <a:rPr sz="1600">
                          <a:solidFill>
                            <a:srgbClr val="1A1F2C"/>
                          </a:solidFill>
                        </a:rPr>
                        <a:t>asar/evaluation/experiment_logger.py  +  tests</a:t>
                      </a:r>
                    </a:p>
                  </a:txBody>
                  <a:tcPr>
                    <a:solidFill>
                      <a:srgbClr val="FCFBF8"/>
                    </a:solidFill>
                  </a:tcPr>
                </a:tc>
              </a:tr>
              <a:tr h="587832">
                <a:tc>
                  <a:txBody>
                    <a:bodyPr wrap="square"/>
                    <a:lstStyle/>
                    <a:p>
                      <a:r>
                        <a:rPr sz="1600">
                          <a:solidFill>
                            <a:srgbClr val="1A1F2C"/>
                          </a:solidFill>
                        </a:rPr>
                        <a:t>Toxicity / grounding</a:t>
                      </a:r>
                    </a:p>
                  </a:txBody>
                  <a:tcPr>
                    <a:solidFill>
                      <a:srgbClr val="FCFBF8"/>
                    </a:solidFill>
                  </a:tcPr>
                </a:tc>
                <a:tc>
                  <a:txBody>
                    <a:bodyPr wrap="square"/>
                    <a:lstStyle/>
                    <a:p>
                      <a:r>
                        <a:rPr sz="1600">
                          <a:solidFill>
                            <a:srgbClr val="1A1F2C"/>
                          </a:solidFill>
                        </a:rPr>
                        <a:t>asar/safety/  +  asar/verification/evidence_checker.py</a:t>
                      </a:r>
                    </a:p>
                  </a:txBody>
                  <a:tcPr>
                    <a:solidFill>
                      <a:srgbClr val="FCFBF8"/>
                    </a:solidFill>
                  </a:tcPr>
                </a:tc>
              </a:tr>
            </a:tbl>
          </a:graphicData>
        </a:graphic>
      </p:graphicFrame>
      <p:sp>
        <p:nvSpPr>
          <p:cNvPr id="5" name="TextBox 4"/>
          <p:cNvSpPr txBox="1"/>
          <p:nvPr/>
        </p:nvSpPr>
        <p:spPr>
          <a:xfrm>
            <a:off x="548640" y="6126480"/>
            <a:ext cx="10972800" cy="457200"/>
          </a:xfrm>
          <a:prstGeom prst="rect">
            <a:avLst/>
          </a:prstGeom>
          <a:noFill/>
        </p:spPr>
        <p:txBody>
          <a:bodyPr wrap="square" lIns="0" rIns="0" tIns="0">
            <a:spAutoFit/>
          </a:bodyPr>
          <a:lstStyle/>
          <a:p>
            <a:r>
              <a:rPr sz="1500" b="0" i="1">
                <a:solidFill>
                  <a:srgbClr val="4A5263"/>
                </a:solidFill>
              </a:rPr>
              <a:t>Base model: Qwen2.5-0.5B-Instruct (open weights), fine-tuned with SFT then DPO.</a:t>
            </a:r>
          </a:p>
        </p:txBody>
      </p:sp>
      <p:sp>
        <p:nvSpPr>
          <p:cNvPr id="6" name="TextBox 5"/>
          <p:cNvSpPr txBox="1"/>
          <p:nvPr/>
        </p:nvSpPr>
        <p:spPr>
          <a:xfrm>
            <a:off x="11247120" y="6446520"/>
            <a:ext cx="640080" cy="274320"/>
          </a:xfrm>
          <a:prstGeom prst="rect">
            <a:avLst/>
          </a:prstGeom>
          <a:noFill/>
        </p:spPr>
        <p:txBody>
          <a:bodyPr wrap="square" lIns="0" rIns="0" tIns="0">
            <a:spAutoFit/>
          </a:bodyPr>
          <a:lstStyle/>
          <a:p>
            <a:pPr algn="r"/>
            <a:r>
              <a:rPr sz="1000" b="0" i="0">
                <a:solidFill>
                  <a:srgbClr val="A0A6B0"/>
                </a:solidFil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CFBF8"/>
        </a:solidFill>
        <a:effectLst/>
      </p:bgPr>
    </p:bg>
    <p:spTree>
      <p:nvGrpSpPr>
        <p:cNvPr id="1" name=""/>
        <p:cNvGrpSpPr/>
        <p:nvPr/>
      </p:nvGrpSpPr>
      <p:grpSpPr/>
      <p:sp>
        <p:nvSpPr>
          <p:cNvPr id="2" name="TextBox 1"/>
          <p:cNvSpPr txBox="1"/>
          <p:nvPr/>
        </p:nvSpPr>
        <p:spPr>
          <a:xfrm>
            <a:off x="548640" y="502920"/>
            <a:ext cx="10972800" cy="777240"/>
          </a:xfrm>
          <a:prstGeom prst="rect">
            <a:avLst/>
          </a:prstGeom>
          <a:noFill/>
        </p:spPr>
        <p:txBody>
          <a:bodyPr wrap="square" lIns="0" rIns="0" tIns="0">
            <a:spAutoFit/>
          </a:bodyPr>
          <a:lstStyle/>
          <a:p>
            <a:r>
              <a:rPr sz="3400" b="1" i="0">
                <a:solidFill>
                  <a:srgbClr val="1A1F2C"/>
                </a:solidFill>
              </a:rPr>
              <a:t>Numbers from this laptop</a:t>
            </a:r>
          </a:p>
        </p:txBody>
      </p:sp>
      <p:cxnSp>
        <p:nvCxnSpPr>
          <p:cNvPr id="3" name="Connector 2"/>
          <p:cNvCxnSpPr/>
          <p:nvPr/>
        </p:nvCxnSpPr>
        <p:spPr>
          <a:xfrm>
            <a:off x="548640" y="1298448"/>
            <a:ext cx="10881360" cy="0"/>
          </a:xfrm>
          <a:prstGeom prst="line">
            <a:avLst/>
          </a:prstGeom>
          <a:ln w="9525">
            <a:solidFill>
              <a:srgbClr val="D5D8E0"/>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40080" y="1737360"/>
            <a:ext cx="5943600" cy="4114800"/>
          </a:xfrm>
          <a:prstGeom prst="rect">
            <a:avLst/>
          </a:prstGeom>
          <a:noFill/>
        </p:spPr>
        <p:txBody>
          <a:bodyPr wrap="square" lIns="0">
            <a:spAutoFit/>
          </a:bodyPr>
          <a:lstStyle/>
          <a:p>
            <a:pPr>
              <a:lnSpc>
                <a:spcPct val="135000"/>
              </a:lnSpc>
              <a:spcAft>
                <a:spcPts val="600"/>
              </a:spcAft>
            </a:pPr>
            <a:r>
              <a:rPr sz="2000">
                <a:solidFill>
                  <a:srgbClr val="1A1F2C"/>
                </a:solidFill>
              </a:rPr>
              <a:t>186 / 186 tests passing in 0.6 s</a:t>
            </a:r>
          </a:p>
          <a:p>
            <a:pPr>
              <a:lnSpc>
                <a:spcPct val="135000"/>
              </a:lnSpc>
              <a:spcAft>
                <a:spcPts val="600"/>
              </a:spcAft>
            </a:pPr>
            <a:r>
              <a:rPr sz="2000">
                <a:solidFill>
                  <a:srgbClr val="1A1F2C"/>
                </a:solidFill>
              </a:rPr>
              <a:t>5,183 docs → 5,208 chunks in 3.2 s</a:t>
            </a:r>
          </a:p>
          <a:p>
            <a:pPr>
              <a:lnSpc>
                <a:spcPct val="135000"/>
              </a:lnSpc>
              <a:spcAft>
                <a:spcPts val="600"/>
              </a:spcAft>
            </a:pPr>
            <a:r>
              <a:rPr sz="2000">
                <a:solidFill>
                  <a:srgbClr val="1A1F2C"/>
                </a:solidFill>
              </a:rPr>
              <a:t>Probe "BRCA1 cancers": top-1 is the gold paper</a:t>
            </a:r>
          </a:p>
          <a:p>
            <a:pPr>
              <a:lnSpc>
                <a:spcPct val="135000"/>
              </a:lnSpc>
              <a:spcAft>
                <a:spcPts val="600"/>
              </a:spcAft>
            </a:pPr>
            <a:r>
              <a:rPr sz="2000">
                <a:solidFill>
                  <a:srgbClr val="1A1F2C"/>
                </a:solidFill>
              </a:rPr>
              <a:t>1,000 DPO pairs, every chosen ≠ rejected</a:t>
            </a:r>
          </a:p>
          <a:p>
            <a:pPr>
              <a:lnSpc>
                <a:spcPct val="135000"/>
              </a:lnSpc>
              <a:spcAft>
                <a:spcPts val="600"/>
              </a:spcAft>
            </a:pPr>
            <a:r>
              <a:rPr sz="2000">
                <a:solidFill>
                  <a:srgbClr val="1A1F2C"/>
                </a:solidFill>
              </a:rPr>
              <a:t>Safety: 5 texts scored, 0 unsafe, both reports clean</a:t>
            </a:r>
          </a:p>
        </p:txBody>
      </p:sp>
      <p:sp>
        <p:nvSpPr>
          <p:cNvPr id="5" name="Rectangle 4"/>
          <p:cNvSpPr/>
          <p:nvPr/>
        </p:nvSpPr>
        <p:spPr>
          <a:xfrm>
            <a:off x="6766560" y="1737360"/>
            <a:ext cx="4937760" cy="4114800"/>
          </a:xfrm>
          <a:prstGeom prst="rect">
            <a:avLst/>
          </a:prstGeom>
          <a:solidFill>
            <a:srgbClr val="F5F3EE"/>
          </a:solidFill>
          <a:ln w="6350">
            <a:solidFill>
              <a:srgbClr val="D5D8E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37160"/>
          <a:lstStyle/>
          <a:p>
            <a:pPr algn="ctr">
              <a:lnSpc>
                <a:spcPct val="110000"/>
              </a:lnSpc>
            </a:pPr>
            <a:r>
              <a:rPr sz="1300">
                <a:solidFill>
                  <a:srgbClr val="242A36"/>
                </a:solidFill>
                <a:latin typeface="Menlo"/>
              </a:rPr>
              <a:t>"raw_payload": {</a:t>
            </a:r>
          </a:p>
          <a:p>
            <a:pPr>
              <a:lnSpc>
                <a:spcPct val="110000"/>
              </a:lnSpc>
            </a:pPr>
            <a:r>
              <a:rPr sz="1300">
                <a:solidFill>
                  <a:srgbClr val="242A36"/>
                </a:solidFill>
                <a:latin typeface="Menlo"/>
              </a:rPr>
              <a:t>  "chunk_id":     "26952804::f1ad…",</a:t>
            </a:r>
          </a:p>
          <a:p>
            <a:pPr>
              <a:lnSpc>
                <a:spcPct val="110000"/>
              </a:lnSpc>
            </a:pPr>
            <a:r>
              <a:rPr sz="1300">
                <a:solidFill>
                  <a:srgbClr val="242A36"/>
                </a:solidFill>
                <a:latin typeface="Menlo"/>
              </a:rPr>
              <a:t>  "dense_rank":   7,</a:t>
            </a:r>
          </a:p>
          <a:p>
            <a:pPr>
              <a:lnSpc>
                <a:spcPct val="110000"/>
              </a:lnSpc>
            </a:pPr>
            <a:r>
              <a:rPr sz="1300">
                <a:solidFill>
                  <a:srgbClr val="242A36"/>
                </a:solidFill>
                <a:latin typeface="Menlo"/>
              </a:rPr>
              <a:t>  "lexical_rank": 2,</a:t>
            </a:r>
          </a:p>
          <a:p>
            <a:pPr>
              <a:lnSpc>
                <a:spcPct val="110000"/>
              </a:lnSpc>
            </a:pPr>
            <a:r>
              <a:rPr sz="1300">
                <a:solidFill>
                  <a:srgbClr val="242A36"/>
                </a:solidFill>
                <a:latin typeface="Menlo"/>
              </a:rPr>
              <a:t>  "fused_score":  0.031054405,</a:t>
            </a:r>
          </a:p>
          <a:p>
            <a:pPr>
              <a:lnSpc>
                <a:spcPct val="110000"/>
              </a:lnSpc>
            </a:pPr>
            <a:r>
              <a:rPr sz="1300">
                <a:solidFill>
                  <a:srgbClr val="242A36"/>
                </a:solidFill>
                <a:latin typeface="Menlo"/>
              </a:rPr>
              <a:t>  "trust_label":  "peer_reviewed",</a:t>
            </a:r>
          </a:p>
          <a:p>
            <a:pPr>
              <a:lnSpc>
                <a:spcPct val="110000"/>
              </a:lnSpc>
            </a:pPr>
            <a:r>
              <a:rPr sz="1300">
                <a:solidFill>
                  <a:srgbClr val="242A36"/>
                </a:solidFill>
                <a:latin typeface="Menlo"/>
              </a:rPr>
              <a:t>  "section":      "body",</a:t>
            </a:r>
          </a:p>
          <a:p>
            <a:pPr>
              <a:lnSpc>
                <a:spcPct val="110000"/>
              </a:lnSpc>
            </a:pPr>
            <a:r>
              <a:rPr sz="1300">
                <a:solidFill>
                  <a:srgbClr val="242A36"/>
                </a:solidFill>
                <a:latin typeface="Menlo"/>
              </a:rPr>
              <a:t>  "tags": ["scifact",</a:t>
            </a:r>
          </a:p>
          <a:p>
            <a:pPr>
              <a:lnSpc>
                <a:spcPct val="110000"/>
              </a:lnSpc>
            </a:pPr>
            <a:r>
              <a:rPr sz="1300">
                <a:solidFill>
                  <a:srgbClr val="242A36"/>
                </a:solidFill>
                <a:latin typeface="Menlo"/>
              </a:rPr>
              <a:t>           "scientific_claim"]</a:t>
            </a:r>
          </a:p>
          <a:p>
            <a:pPr>
              <a:lnSpc>
                <a:spcPct val="110000"/>
              </a:lnSpc>
            </a:pPr>
            <a:r>
              <a:rPr sz="1300">
                <a:solidFill>
                  <a:srgbClr val="242A36"/>
                </a:solidFill>
                <a:latin typeface="Menlo"/>
              </a:rPr>
              <a:t>}</a:t>
            </a:r>
          </a:p>
        </p:txBody>
      </p:sp>
      <p:sp>
        <p:nvSpPr>
          <p:cNvPr id="6" name="TextBox 5"/>
          <p:cNvSpPr txBox="1"/>
          <p:nvPr/>
        </p:nvSpPr>
        <p:spPr>
          <a:xfrm>
            <a:off x="640080" y="6035040"/>
            <a:ext cx="10972800" cy="457200"/>
          </a:xfrm>
          <a:prstGeom prst="rect">
            <a:avLst/>
          </a:prstGeom>
          <a:noFill/>
        </p:spPr>
        <p:txBody>
          <a:bodyPr wrap="square" lIns="0" rIns="0" tIns="0">
            <a:spAutoFit/>
          </a:bodyPr>
          <a:lstStyle/>
          <a:p>
            <a:r>
              <a:rPr sz="1500" b="0" i="1">
                <a:solidFill>
                  <a:srgbClr val="4A5263"/>
                </a:solidFill>
              </a:rPr>
              <a:t>The evidence payload carries dense rank, lexical rank, fused score, and trust label, end-to-end.</a:t>
            </a:r>
          </a:p>
        </p:txBody>
      </p:sp>
      <p:sp>
        <p:nvSpPr>
          <p:cNvPr id="7" name="TextBox 6"/>
          <p:cNvSpPr txBox="1"/>
          <p:nvPr/>
        </p:nvSpPr>
        <p:spPr>
          <a:xfrm>
            <a:off x="11247120" y="6446520"/>
            <a:ext cx="640080" cy="274320"/>
          </a:xfrm>
          <a:prstGeom prst="rect">
            <a:avLst/>
          </a:prstGeom>
          <a:noFill/>
        </p:spPr>
        <p:txBody>
          <a:bodyPr wrap="square" lIns="0" rIns="0" tIns="0">
            <a:spAutoFit/>
          </a:bodyPr>
          <a:lstStyle/>
          <a:p>
            <a:pPr algn="r"/>
            <a:r>
              <a:rPr sz="1000" b="0" i="0">
                <a:solidFill>
                  <a:srgbClr val="A0A6B0"/>
                </a:solidFil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41A26"/>
        </a:solidFill>
        <a:effectLst/>
      </p:bgPr>
    </p:bg>
    <p:spTree>
      <p:nvGrpSpPr>
        <p:cNvPr id="1" name=""/>
        <p:cNvGrpSpPr/>
        <p:nvPr/>
      </p:nvGrpSpPr>
      <p:grpSpPr/>
      <p:sp>
        <p:nvSpPr>
          <p:cNvPr id="2" name="TextBox 1"/>
          <p:cNvSpPr txBox="1"/>
          <p:nvPr/>
        </p:nvSpPr>
        <p:spPr>
          <a:xfrm>
            <a:off x="822960" y="731520"/>
            <a:ext cx="1828800" cy="457200"/>
          </a:xfrm>
          <a:prstGeom prst="rect">
            <a:avLst/>
          </a:prstGeom>
          <a:noFill/>
        </p:spPr>
        <p:txBody>
          <a:bodyPr wrap="square" lIns="0" rIns="0" tIns="0">
            <a:spAutoFit/>
          </a:bodyPr>
          <a:lstStyle/>
          <a:p>
            <a:r>
              <a:rPr sz="1400" b="1" i="0">
                <a:solidFill>
                  <a:srgbClr val="C54A3D"/>
                </a:solidFill>
              </a:rPr>
              <a:t>LIVE</a:t>
            </a:r>
          </a:p>
        </p:txBody>
      </p:sp>
      <p:sp>
        <p:nvSpPr>
          <p:cNvPr id="3" name="TextBox 2"/>
          <p:cNvSpPr txBox="1"/>
          <p:nvPr/>
        </p:nvSpPr>
        <p:spPr>
          <a:xfrm>
            <a:off x="822960" y="1737360"/>
            <a:ext cx="10058400" cy="1280160"/>
          </a:xfrm>
          <a:prstGeom prst="rect">
            <a:avLst/>
          </a:prstGeom>
          <a:noFill/>
        </p:spPr>
        <p:txBody>
          <a:bodyPr wrap="square" lIns="0" rIns="0" tIns="0">
            <a:spAutoFit/>
          </a:bodyPr>
          <a:lstStyle/>
          <a:p>
            <a:r>
              <a:rPr sz="8400" b="1" i="0">
                <a:solidFill>
                  <a:srgbClr val="ECEEF2"/>
                </a:solidFill>
              </a:rPr>
              <a:t>Demo</a:t>
            </a:r>
          </a:p>
        </p:txBody>
      </p:sp>
      <p:sp>
        <p:nvSpPr>
          <p:cNvPr id="4" name="TextBox 3"/>
          <p:cNvSpPr txBox="1"/>
          <p:nvPr/>
        </p:nvSpPr>
        <p:spPr>
          <a:xfrm>
            <a:off x="822960" y="3017520"/>
            <a:ext cx="10058400" cy="457200"/>
          </a:xfrm>
          <a:prstGeom prst="rect">
            <a:avLst/>
          </a:prstGeom>
          <a:noFill/>
        </p:spPr>
        <p:txBody>
          <a:bodyPr wrap="square" lIns="0" rIns="0" tIns="0">
            <a:spAutoFit/>
          </a:bodyPr>
          <a:lstStyle/>
          <a:p>
            <a:r>
              <a:rPr sz="2000" b="0" i="0">
                <a:solidFill>
                  <a:srgbClr val="C8CCD4"/>
                </a:solidFill>
              </a:rPr>
              <a:t>About two minutes. Six commands.</a:t>
            </a:r>
          </a:p>
        </p:txBody>
      </p:sp>
      <p:sp>
        <p:nvSpPr>
          <p:cNvPr id="5" name="TextBox 4"/>
          <p:cNvSpPr txBox="1"/>
          <p:nvPr/>
        </p:nvSpPr>
        <p:spPr>
          <a:xfrm>
            <a:off x="822960" y="3657600"/>
            <a:ext cx="10515600" cy="2743200"/>
          </a:xfrm>
          <a:prstGeom prst="rect">
            <a:avLst/>
          </a:prstGeom>
          <a:noFill/>
        </p:spPr>
        <p:txBody>
          <a:bodyPr wrap="square">
            <a:spAutoFit/>
          </a:bodyPr>
          <a:lstStyle/>
          <a:p>
            <a:pPr>
              <a:lnSpc>
                <a:spcPct val="130000"/>
              </a:lnSpc>
            </a:pPr>
            <a:r>
              <a:rPr sz="2200" b="1">
                <a:solidFill>
                  <a:srgbClr val="C54A3D"/>
                </a:solidFill>
              </a:rPr>
              <a:t>1.  </a:t>
            </a:r>
            <a:r>
              <a:rPr sz="2200" b="1">
                <a:solidFill>
                  <a:srgbClr val="ECEEF2"/>
                </a:solidFill>
                <a:latin typeface="Menlo"/>
              </a:rPr>
              <a:t>pytest</a:t>
            </a:r>
            <a:r>
              <a:rPr sz="2200">
                <a:solidFill>
                  <a:srgbClr val="B0B6C0"/>
                </a:solidFill>
              </a:rPr>
              <a:t>   186 passed</a:t>
            </a:r>
          </a:p>
          <a:p>
            <a:pPr>
              <a:lnSpc>
                <a:spcPct val="130000"/>
              </a:lnSpc>
            </a:pPr>
            <a:r>
              <a:rPr sz="2200" b="1">
                <a:solidFill>
                  <a:srgbClr val="C54A3D"/>
                </a:solidFill>
              </a:rPr>
              <a:t>2.  </a:t>
            </a:r>
            <a:r>
              <a:rPr sz="2200" b="1">
                <a:solidFill>
                  <a:srgbClr val="ECEEF2"/>
                </a:solidFill>
                <a:latin typeface="Menlo"/>
              </a:rPr>
              <a:t>rag.cli</a:t>
            </a:r>
            <a:r>
              <a:rPr sz="2200">
                <a:solidFill>
                  <a:srgbClr val="B0B6C0"/>
                </a:solidFill>
              </a:rPr>
              <a:t>   index SciFact, top-1 BRCA1</a:t>
            </a:r>
          </a:p>
          <a:p>
            <a:pPr>
              <a:lnSpc>
                <a:spcPct val="130000"/>
              </a:lnSpc>
            </a:pPr>
            <a:r>
              <a:rPr sz="2200" b="1">
                <a:solidFill>
                  <a:srgbClr val="C54A3D"/>
                </a:solidFill>
              </a:rPr>
              <a:t>3.  </a:t>
            </a:r>
            <a:r>
              <a:rPr sz="2200" b="1">
                <a:solidFill>
                  <a:srgbClr val="ECEEF2"/>
                </a:solidFill>
                <a:latin typeface="Menlo"/>
              </a:rPr>
              <a:t>asar.demo</a:t>
            </a:r>
            <a:r>
              <a:rPr sz="2200">
                <a:solidFill>
                  <a:srgbClr val="B0B6C0"/>
                </a:solidFill>
              </a:rPr>
              <a:t>   plan → retrieve → verify</a:t>
            </a:r>
          </a:p>
          <a:p>
            <a:pPr>
              <a:lnSpc>
                <a:spcPct val="130000"/>
              </a:lnSpc>
            </a:pPr>
            <a:r>
              <a:rPr sz="2200" b="1">
                <a:solidFill>
                  <a:srgbClr val="C54A3D"/>
                </a:solidFill>
              </a:rPr>
              <a:t>4.  </a:t>
            </a:r>
            <a:r>
              <a:rPr sz="2200" b="1">
                <a:solidFill>
                  <a:srgbClr val="ECEEF2"/>
                </a:solidFill>
                <a:latin typeface="Menlo"/>
              </a:rPr>
              <a:t>output.json</a:t>
            </a:r>
            <a:r>
              <a:rPr sz="2200">
                <a:solidFill>
                  <a:srgbClr val="B0B6C0"/>
                </a:solidFill>
              </a:rPr>
              <a:t>   evidence with full provenance</a:t>
            </a:r>
          </a:p>
          <a:p>
            <a:pPr>
              <a:lnSpc>
                <a:spcPct val="130000"/>
              </a:lnSpc>
            </a:pPr>
            <a:r>
              <a:rPr sz="2200" b="1">
                <a:solidFill>
                  <a:srgbClr val="C54A3D"/>
                </a:solidFill>
              </a:rPr>
              <a:t>5.  </a:t>
            </a:r>
            <a:r>
              <a:rPr sz="2200" b="1">
                <a:solidFill>
                  <a:srgbClr val="ECEEF2"/>
                </a:solidFill>
                <a:latin typeface="Menlo"/>
              </a:rPr>
              <a:t>safety.json</a:t>
            </a:r>
            <a:r>
              <a:rPr sz="2200">
                <a:solidFill>
                  <a:srgbClr val="B0B6C0"/>
                </a:solidFill>
              </a:rPr>
              <a:t>   pre + post blocked = false</a:t>
            </a:r>
          </a:p>
          <a:p>
            <a:pPr>
              <a:lnSpc>
                <a:spcPct val="130000"/>
              </a:lnSpc>
            </a:pPr>
            <a:r>
              <a:rPr sz="2200" b="1">
                <a:solidFill>
                  <a:srgbClr val="C54A3D"/>
                </a:solidFill>
              </a:rPr>
              <a:t>6.  </a:t>
            </a:r>
            <a:r>
              <a:rPr sz="2200" b="1">
                <a:solidFill>
                  <a:srgbClr val="ECEEF2"/>
                </a:solidFill>
                <a:latin typeface="Menlo"/>
              </a:rPr>
              <a:t>pref.jsonl</a:t>
            </a:r>
            <a:r>
              <a:rPr sz="2200">
                <a:solidFill>
                  <a:srgbClr val="B0B6C0"/>
                </a:solidFill>
              </a:rPr>
              <a:t>   chosen vs rejected (DPO)</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CFBF8"/>
        </a:solidFill>
        <a:effectLst/>
      </p:bgPr>
    </p:bg>
    <p:spTree>
      <p:nvGrpSpPr>
        <p:cNvPr id="1" name=""/>
        <p:cNvGrpSpPr/>
        <p:nvPr/>
      </p:nvGrpSpPr>
      <p:grpSpPr/>
      <p:sp>
        <p:nvSpPr>
          <p:cNvPr id="2" name="TextBox 1"/>
          <p:cNvSpPr txBox="1"/>
          <p:nvPr/>
        </p:nvSpPr>
        <p:spPr>
          <a:xfrm>
            <a:off x="548640" y="502920"/>
            <a:ext cx="10972800" cy="777240"/>
          </a:xfrm>
          <a:prstGeom prst="rect">
            <a:avLst/>
          </a:prstGeom>
          <a:noFill/>
        </p:spPr>
        <p:txBody>
          <a:bodyPr wrap="square" lIns="0" rIns="0" tIns="0">
            <a:spAutoFit/>
          </a:bodyPr>
          <a:lstStyle/>
          <a:p>
            <a:r>
              <a:rPr sz="3400" b="1" i="0">
                <a:solidFill>
                  <a:srgbClr val="1A1F2C"/>
                </a:solidFill>
              </a:rPr>
              <a:t>Limitations, and what I'd do next</a:t>
            </a:r>
          </a:p>
        </p:txBody>
      </p:sp>
      <p:cxnSp>
        <p:nvCxnSpPr>
          <p:cNvPr id="3" name="Connector 2"/>
          <p:cNvCxnSpPr/>
          <p:nvPr/>
        </p:nvCxnSpPr>
        <p:spPr>
          <a:xfrm>
            <a:off x="548640" y="1298448"/>
            <a:ext cx="10881360" cy="0"/>
          </a:xfrm>
          <a:prstGeom prst="line">
            <a:avLst/>
          </a:prstGeom>
          <a:ln w="9525">
            <a:solidFill>
              <a:srgbClr val="D5D8E0"/>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40080" y="1691640"/>
            <a:ext cx="5029200" cy="457200"/>
          </a:xfrm>
          <a:prstGeom prst="rect">
            <a:avLst/>
          </a:prstGeom>
          <a:noFill/>
        </p:spPr>
        <p:txBody>
          <a:bodyPr wrap="square" lIns="0" rIns="0" tIns="0">
            <a:spAutoFit/>
          </a:bodyPr>
          <a:lstStyle/>
          <a:p>
            <a:r>
              <a:rPr sz="2000" b="1" i="0">
                <a:solidFill>
                  <a:srgbClr val="C54A3D"/>
                </a:solidFill>
              </a:rPr>
              <a:t>Honest limitations</a:t>
            </a:r>
          </a:p>
        </p:txBody>
      </p:sp>
      <p:sp>
        <p:nvSpPr>
          <p:cNvPr id="5" name="TextBox 4"/>
          <p:cNvSpPr txBox="1"/>
          <p:nvPr/>
        </p:nvSpPr>
        <p:spPr>
          <a:xfrm>
            <a:off x="640080" y="2194560"/>
            <a:ext cx="5212080" cy="3657600"/>
          </a:xfrm>
          <a:prstGeom prst="rect">
            <a:avLst/>
          </a:prstGeom>
          <a:noFill/>
        </p:spPr>
        <p:txBody>
          <a:bodyPr wrap="square" lIns="0">
            <a:spAutoFit/>
          </a:bodyPr>
          <a:lstStyle/>
          <a:p>
            <a:pPr>
              <a:lnSpc>
                <a:spcPct val="135000"/>
              </a:lnSpc>
              <a:spcAft>
                <a:spcPts val="600"/>
              </a:spcAft>
            </a:pPr>
            <a:r>
              <a:rPr sz="1800">
                <a:solidFill>
                  <a:srgbClr val="1A1F2C"/>
                </a:solidFill>
              </a:rPr>
              <a:t>DPO instead of full PPO RLHF (practical for a laptop)</a:t>
            </a:r>
          </a:p>
          <a:p>
            <a:pPr>
              <a:lnSpc>
                <a:spcPct val="135000"/>
              </a:lnSpc>
              <a:spcAft>
                <a:spcPts val="600"/>
              </a:spcAft>
            </a:pPr>
            <a:r>
              <a:rPr sz="1800">
                <a:solidFill>
                  <a:srgbClr val="1A1F2C"/>
                </a:solidFill>
              </a:rPr>
              <a:t>SFT corpus is small, around 1,500 pairs</a:t>
            </a:r>
          </a:p>
          <a:p>
            <a:pPr>
              <a:lnSpc>
                <a:spcPct val="135000"/>
              </a:lnSpc>
              <a:spcAft>
                <a:spcPts val="600"/>
              </a:spcAft>
            </a:pPr>
            <a:r>
              <a:rPr sz="1800">
                <a:solidFill>
                  <a:srgbClr val="1A1F2C"/>
                </a:solidFill>
              </a:rPr>
              <a:t>Default embedder is the deterministic hashing one</a:t>
            </a:r>
          </a:p>
          <a:p>
            <a:pPr>
              <a:lnSpc>
                <a:spcPct val="135000"/>
              </a:lnSpc>
              <a:spcAft>
                <a:spcPts val="600"/>
              </a:spcAft>
            </a:pPr>
            <a:r>
              <a:rPr sz="1800">
                <a:solidFill>
                  <a:srgbClr val="1A1F2C"/>
                </a:solidFill>
              </a:rPr>
              <a:t>Sequential orchestrator: no re-planning yet</a:t>
            </a:r>
          </a:p>
        </p:txBody>
      </p:sp>
      <p:sp>
        <p:nvSpPr>
          <p:cNvPr id="6" name="TextBox 5"/>
          <p:cNvSpPr txBox="1"/>
          <p:nvPr/>
        </p:nvSpPr>
        <p:spPr>
          <a:xfrm>
            <a:off x="6400800" y="1691640"/>
            <a:ext cx="5029200" cy="457200"/>
          </a:xfrm>
          <a:prstGeom prst="rect">
            <a:avLst/>
          </a:prstGeom>
          <a:noFill/>
        </p:spPr>
        <p:txBody>
          <a:bodyPr wrap="square" lIns="0" rIns="0" tIns="0">
            <a:spAutoFit/>
          </a:bodyPr>
          <a:lstStyle/>
          <a:p>
            <a:r>
              <a:rPr sz="2000" b="1" i="0">
                <a:solidFill>
                  <a:srgbClr val="2E7D32"/>
                </a:solidFill>
              </a:rPr>
              <a:t>Next, in order of impact</a:t>
            </a:r>
          </a:p>
        </p:txBody>
      </p:sp>
      <p:sp>
        <p:nvSpPr>
          <p:cNvPr id="7" name="TextBox 6"/>
          <p:cNvSpPr txBox="1"/>
          <p:nvPr/>
        </p:nvSpPr>
        <p:spPr>
          <a:xfrm>
            <a:off x="6400800" y="2194560"/>
            <a:ext cx="5212080" cy="3657600"/>
          </a:xfrm>
          <a:prstGeom prst="rect">
            <a:avLst/>
          </a:prstGeom>
          <a:noFill/>
        </p:spPr>
        <p:txBody>
          <a:bodyPr wrap="square" lIns="0">
            <a:spAutoFit/>
          </a:bodyPr>
          <a:lstStyle/>
          <a:p>
            <a:pPr>
              <a:lnSpc>
                <a:spcPct val="135000"/>
              </a:lnSpc>
              <a:spcAft>
                <a:spcPts val="600"/>
              </a:spcAft>
            </a:pPr>
            <a:r>
              <a:rPr sz="1800">
                <a:solidFill>
                  <a:srgbClr val="1A1F2C"/>
                </a:solidFill>
              </a:rPr>
              <a:t>Switch to FastEmbed; report recall@5 vs the qrels</a:t>
            </a:r>
          </a:p>
          <a:p>
            <a:pPr>
              <a:lnSpc>
                <a:spcPct val="135000"/>
              </a:lnSpc>
              <a:spcAft>
                <a:spcPts val="600"/>
              </a:spcAft>
            </a:pPr>
            <a:r>
              <a:rPr sz="1800">
                <a:solidFill>
                  <a:srgbClr val="1A1F2C"/>
                </a:solidFill>
              </a:rPr>
              <a:t>Scale SFT + DPO to a ≥ 10 k pair dataset</a:t>
            </a:r>
          </a:p>
          <a:p>
            <a:pPr>
              <a:lnSpc>
                <a:spcPct val="135000"/>
              </a:lnSpc>
              <a:spcAft>
                <a:spcPts val="600"/>
              </a:spcAft>
            </a:pPr>
            <a:r>
              <a:rPr sz="1800">
                <a:solidFill>
                  <a:srgbClr val="1A1F2C"/>
                </a:solidFill>
              </a:rPr>
              <a:t>Add a re-planning loop when verification fails</a:t>
            </a:r>
          </a:p>
          <a:p>
            <a:pPr>
              <a:lnSpc>
                <a:spcPct val="135000"/>
              </a:lnSpc>
              <a:spcAft>
                <a:spcPts val="600"/>
              </a:spcAft>
            </a:pPr>
            <a:r>
              <a:rPr sz="1800">
                <a:solidFill>
                  <a:srgbClr val="1A1F2C"/>
                </a:solidFill>
              </a:rPr>
              <a:t>Source allowlists and retrieval-time injection filters</a:t>
            </a:r>
          </a:p>
        </p:txBody>
      </p:sp>
      <p:sp>
        <p:nvSpPr>
          <p:cNvPr id="8" name="TextBox 7"/>
          <p:cNvSpPr txBox="1"/>
          <p:nvPr/>
        </p:nvSpPr>
        <p:spPr>
          <a:xfrm>
            <a:off x="11247120" y="6446520"/>
            <a:ext cx="640080" cy="274320"/>
          </a:xfrm>
          <a:prstGeom prst="rect">
            <a:avLst/>
          </a:prstGeom>
          <a:noFill/>
        </p:spPr>
        <p:txBody>
          <a:bodyPr wrap="square" lIns="0" rIns="0" tIns="0">
            <a:spAutoFit/>
          </a:bodyPr>
          <a:lstStyle/>
          <a:p>
            <a:pPr algn="r"/>
            <a:r>
              <a:rPr sz="1000" b="0" i="0">
                <a:solidFill>
                  <a:srgbClr val="A0A6B0"/>
                </a:solidFill>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41A26"/>
        </a:solidFill>
        <a:effectLst/>
      </p:bgPr>
    </p:bg>
    <p:spTree>
      <p:nvGrpSpPr>
        <p:cNvPr id="1" name=""/>
        <p:cNvGrpSpPr/>
        <p:nvPr/>
      </p:nvGrpSpPr>
      <p:grpSpPr/>
      <p:sp>
        <p:nvSpPr>
          <p:cNvPr id="2" name="TextBox 1"/>
          <p:cNvSpPr txBox="1"/>
          <p:nvPr/>
        </p:nvSpPr>
        <p:spPr>
          <a:xfrm>
            <a:off x="822960" y="2377440"/>
            <a:ext cx="10058400" cy="1645920"/>
          </a:xfrm>
          <a:prstGeom prst="rect">
            <a:avLst/>
          </a:prstGeom>
          <a:noFill/>
        </p:spPr>
        <p:txBody>
          <a:bodyPr wrap="square" lIns="0" rIns="0" tIns="0">
            <a:spAutoFit/>
          </a:bodyPr>
          <a:lstStyle/>
          <a:p>
            <a:r>
              <a:rPr sz="10000" b="1" i="0">
                <a:solidFill>
                  <a:srgbClr val="ECEEF2"/>
                </a:solidFill>
              </a:rPr>
              <a:t>Thank you</a:t>
            </a:r>
          </a:p>
        </p:txBody>
      </p:sp>
      <p:sp>
        <p:nvSpPr>
          <p:cNvPr id="3" name="TextBox 2"/>
          <p:cNvSpPr txBox="1"/>
          <p:nvPr/>
        </p:nvSpPr>
        <p:spPr>
          <a:xfrm>
            <a:off x="822960" y="4206240"/>
            <a:ext cx="10058400" cy="548640"/>
          </a:xfrm>
          <a:prstGeom prst="rect">
            <a:avLst/>
          </a:prstGeom>
          <a:noFill/>
        </p:spPr>
        <p:txBody>
          <a:bodyPr wrap="square" lIns="0" rIns="0" tIns="0">
            <a:spAutoFit/>
          </a:bodyPr>
          <a:lstStyle/>
          <a:p>
            <a:r>
              <a:rPr sz="3200" b="0" i="0">
                <a:solidFill>
                  <a:srgbClr val="C8CCD4"/>
                </a:solidFill>
              </a:rPr>
              <a:t>Questions?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