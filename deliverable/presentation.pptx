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ASAR = Agentic Structured Autonomous Researcher.</a:t>
            </a:r>
          </a:p>
          <a:p>
            <a:r>
              <a:t>LLM = Large Language Model.</a:t>
            </a:r>
          </a:p>
          <a:p>
            <a:r>
              <a:t>Open with: "This is a research agent that refuses to answer</a:t>
            </a:r>
          </a:p>
          <a:p>
            <a:r>
              <a:t>without evidence." Keep it under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RULE: every claim must trace to a retrieved passage.</a:t>
            </a:r>
          </a:p>
          <a:p>
            <a:r>
              <a:t>Six layers + one router = the system. The "router" is the</a:t>
            </a:r>
          </a:p>
          <a:p>
            <a:r>
              <a:t>orchestration layer; layers never call each other directly.</a:t>
            </a:r>
          </a:p>
          <a:p>
            <a:r>
              <a:t>Qwen2.5-0.5B = small open-weights model from Alibaba (500M params).</a:t>
            </a:r>
          </a:p>
          <a:p>
            <a:r>
              <a:t>SFT = Supervised Fine-Tuning (teach the model from Q-A pairs).</a:t>
            </a:r>
          </a:p>
          <a:p>
            <a:r>
              <a:t>DPO = Direct Preference Optimization (teach it which of two</a:t>
            </a:r>
          </a:p>
          <a:p>
            <a:r>
              <a:t>answers is better, no reward model needed — simpler than PPO).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failure modes:</a:t>
            </a:r>
          </a:p>
          <a:p>
            <a:r>
              <a:t>1. HALLUCINATION compounds in multi-step agents because today's</a:t>
            </a:r>
          </a:p>
          <a:p>
            <a:r>
              <a:t>   wrong claim becomes tomorrow's input.</a:t>
            </a:r>
          </a:p>
          <a:p>
            <a:r>
              <a:t>2. SELF-VERIFICATION: most agents have the same model write the</a:t>
            </a:r>
          </a:p>
          <a:p>
            <a:r>
              <a:t>   answer AND grade it. That's not verification, that's vibes.</a:t>
            </a:r>
          </a:p>
          <a:p>
            <a:r>
              <a:t>3. DRIFT: same prompt, different answer. No replay, no audit.</a:t>
            </a:r>
          </a:p>
          <a:p>
            <a:r>
              <a:t>Each architectural choice that follows is an answer to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/ Reflexion = "Reasoning + Acting" prompting patterns.</a:t>
            </a:r>
          </a:p>
          <a:p>
            <a:r>
              <a:t>LangChain / LlamaIndex = popular RAG framework libraries.</a:t>
            </a:r>
          </a:p>
          <a:p>
            <a:r>
              <a:t>AutoGPT / GPT-Researcher = autonomous long-horizon demos.</a:t>
            </a:r>
          </a:p>
          <a:p>
            <a:r>
              <a:t>Llama Guard = Meta's safety classifier; CAI = Constitutional AI.</a:t>
            </a:r>
          </a:p>
          <a:p>
            <a:r>
              <a:t>The gap: nobody combines TYPED CONTRACTS between layers,</a:t>
            </a:r>
          </a:p>
          <a:p>
            <a:r>
              <a:t>HYBRID RAG, and THIRD-PARTY VERIFICATION in one open system.</a:t>
            </a:r>
          </a:p>
          <a:p>
            <a:r>
              <a:t>Spend ~30s; don't read the table aloud, just point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layers: planning, execution, memory, deliberation,</a:t>
            </a:r>
          </a:p>
          <a:p>
            <a:r>
              <a:t>verification, evaluation. Each is a Python Protocol; impls</a:t>
            </a:r>
          </a:p>
          <a:p>
            <a:r>
              <a:t>are swappable. The orchestrator is the ONLY layer that</a:t>
            </a:r>
          </a:p>
          <a:p>
            <a:r>
              <a:t>imports the others — that's how reproducibility is enforced.</a:t>
            </a:r>
          </a:p>
          <a:p>
            <a:r>
              <a:t>Every arrow is a Pydantic schema (Research Plan, Evidence Item,</a:t>
            </a:r>
          </a:p>
          <a:p>
            <a:r>
              <a:t>Decision Packet, Verification Result, Experiment Record),</a:t>
            </a:r>
          </a:p>
          <a:p>
            <a:r>
              <a:t>not a string blob.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corpus, end to end:</a:t>
            </a:r>
          </a:p>
          <a:p>
            <a:r>
              <a:t>- DATA = SciFact, ~5,183 documents, biomedical claims.</a:t>
            </a:r>
          </a:p>
          <a:p>
            <a:r>
              <a:t>- RAG = Retrieval-Augmented Generation. Dense embeddings</a:t>
            </a:r>
          </a:p>
          <a:p>
            <a:r>
              <a:t>  + BM25 (a classic lexical retriever) fused via RRF</a:t>
            </a:r>
          </a:p>
          <a:p>
            <a:r>
              <a:t>  (Reciprocal Rank Fusion).</a:t>
            </a:r>
          </a:p>
          <a:p>
            <a:r>
              <a:t>- SFT = Supervised Fine-Tuning. Qwen-0.5B + LoRA</a:t>
            </a:r>
          </a:p>
          <a:p>
            <a:r>
              <a:t>  (Low-Rank Adaptation = tiny trainable adapters, ~1% of params).</a:t>
            </a:r>
          </a:p>
          <a:p>
            <a:r>
              <a:t>- DPO = Direct Preference Optimization. 1,000 (prompt,</a:t>
            </a:r>
          </a:p>
          <a:p>
            <a:r>
              <a:t>  chosen, rejected) triples teach the model what a better</a:t>
            </a:r>
          </a:p>
          <a:p>
            <a:r>
              <a:t>  answer looks like.</a:t>
            </a:r>
          </a:p>
          <a:p>
            <a:r>
              <a:t>- SAFETY = pre-flight check on the user goal AND post-flight</a:t>
            </a:r>
          </a:p>
          <a:p>
            <a:r>
              <a:t>  check on the retrieved evidence and the final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experiments:</a:t>
            </a:r>
          </a:p>
          <a:p>
            <a:r>
              <a:t>1. Data ingestion: SciFact normalized, deterministic chunks.</a:t>
            </a:r>
          </a:p>
          <a:p>
            <a:r>
              <a:t>2. Retrieval probe: query "BRCA1 cancers", expect the gold</a:t>
            </a:r>
          </a:p>
          <a:p>
            <a:r>
              <a:t>   paper to land top-1. It does.</a:t>
            </a:r>
          </a:p>
          <a:p>
            <a:r>
              <a:t>3. SFT on ~1,500 SciFact Q-A pairs.</a:t>
            </a:r>
          </a:p>
          <a:p>
            <a:r>
              <a:t>4. DPO v3 on 1,000 preference pairs.</a:t>
            </a:r>
          </a:p>
          <a:p>
            <a:r>
              <a:t>5. Pairwise judge: use the trained adapter itself to grade</a:t>
            </a:r>
          </a:p>
          <a:p>
            <a:r>
              <a:t>   supported vs unsupported claim pairs.</a:t>
            </a:r>
          </a:p>
          <a:p>
            <a:r>
              <a:t>6. Safety pre + post. Pre-flight blocks unsafe goals;</a:t>
            </a:r>
          </a:p>
          <a:p>
            <a:r>
              <a:t>   post-flight blocks unsafe evidence/claims.</a:t>
            </a:r>
          </a:p>
          <a:p>
            <a:r>
              <a:t>7. End-to-end: webapp query → grounded answer + full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numbers worth saying:</a:t>
            </a:r>
          </a:p>
          <a:p>
            <a:r>
              <a:t>- 5,183 docs indexed in 3.2 seconds (deterministic).</a:t>
            </a:r>
          </a:p>
          <a:p>
            <a:r>
              <a:t>- ~5 second grounded answer on Apple Silicon (MPS backend).</a:t>
            </a:r>
          </a:p>
          <a:p>
            <a:r>
              <a:t>- 186/186 tests passing in 0.6s — every layer has tests.</a:t>
            </a:r>
          </a:p>
          <a:p>
            <a:r>
              <a:t>- 2/2 pairwise claims supported by the DPO-trained judge.</a:t>
            </a:r>
          </a:p>
          <a:p>
            <a:r>
              <a:t>Don't dwell. These are floor, not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UI is designed to REFUSE to hide failure:</a:t>
            </a:r>
          </a:p>
          <a:p>
            <a:r>
              <a:t>- Inline [n] citations — every claim is clickable.</a:t>
            </a:r>
          </a:p>
          <a:p>
            <a:r>
              <a:t>- Low retrieval relevance → amber banner above the answer.</a:t>
            </a:r>
          </a:p>
          <a:p>
            <a:r>
              <a:t>  Triggered by mean&lt;40%, max&lt;55%, or topical overlap&lt;50%</a:t>
            </a:r>
          </a:p>
          <a:p>
            <a:r>
              <a:t>  (e.g. "hantavirus" query but no evidence mentions it).</a:t>
            </a:r>
          </a:p>
          <a:p>
            <a:r>
              <a:t>- "Known unknowns" panel for gaps the synthesizer admits to.</a:t>
            </a:r>
          </a:p>
          <a:p>
            <a:r>
              <a:t>- Safety blocks show typed errors per reason: injection,</a:t>
            </a:r>
          </a:p>
          <a:p>
            <a:r>
              <a:t>  toxicity, harm intent — not silent fallbacks.</a:t>
            </a:r>
          </a:p>
          <a:p>
            <a:r>
              <a:t>- Pairwise verdict shown as "2/2 supported" pill.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two minutes:</a:t>
            </a:r>
          </a:p>
          <a:p>
            <a:r>
              <a:t>1. Open localhost:3000, ask a BRCA1 question, hit Run.</a:t>
            </a:r>
          </a:p>
          <a:p>
            <a:r>
              <a:t>2. Point to inline [n] citations as the answer streams in.</a:t>
            </a:r>
          </a:p>
          <a:p>
            <a:r>
              <a:t>3. Click a [1] → modal shows full passage + relevance bar.</a:t>
            </a:r>
          </a:p>
          <a:p>
            <a:r>
              <a:t>4. Switch to Evidence tab → relevance bars per passage.</a:t>
            </a:r>
          </a:p>
          <a:p>
            <a:r>
              <a:t>5. Open output.json side-by-side → full provenance, every</a:t>
            </a:r>
          </a:p>
          <a:p>
            <a:r>
              <a:t>   field reproducible.</a:t>
            </a:r>
          </a:p>
          <a:p>
            <a:r>
              <a:t>6. Run pytest → 186/186 passing in 0.6s.</a:t>
            </a:r>
          </a:p>
          <a:p>
            <a:r>
              <a:t>If demo Wi-Fi dies, fall back to recorded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</a:t>
            </a:r>
          </a:p>
          <a:p>
            <a:r>
              <a:t>- DPO not full PPO RLHF (PPO = Proximal Policy Optimization,</a:t>
            </a:r>
          </a:p>
          <a:p>
            <a:r>
              <a:t>  the original RLHF method; needs a reward model. DPO doesn't.)</a:t>
            </a:r>
          </a:p>
          <a:p>
            <a:r>
              <a:t>- SFT corpus is small (~1.5k pairs).</a:t>
            </a:r>
          </a:p>
          <a:p>
            <a:r>
              <a:t>- Sequential orchestrator only — no re-planning loop yet.</a:t>
            </a:r>
          </a:p>
          <a:p>
            <a:r>
              <a:t>- Retrieval can be off-topic; the UI flags it but doesn't</a:t>
            </a:r>
          </a:p>
          <a:p>
            <a:r>
              <a:t>  recover.</a:t>
            </a:r>
          </a:p>
          <a:p>
            <a:r>
              <a:t>Top of the impact list: a re-planning loop that triggers when</a:t>
            </a:r>
          </a:p>
          <a:p>
            <a:r>
              <a:t>the amber banner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question. Don't say "any questions" — just</a:t>
            </a:r>
          </a:p>
          <a:p>
            <a:r>
              <a:t>let "Questions?" sit on the screen. If silence, point to</a:t>
            </a:r>
          </a:p>
          <a:p>
            <a:r>
              <a:t>asar_final_submission.zip: code + presentation + documentation,</a:t>
            </a:r>
          </a:p>
          <a:p>
            <a:r>
              <a:t>all reproducible from a fresh checkout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